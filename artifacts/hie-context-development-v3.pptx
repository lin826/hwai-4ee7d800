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628793e018f4def" /><Relationship Type="http://schemas.openxmlformats.org/officeDocument/2006/relationships/extended-properties" Target="/docProps/app.xml" Id="R718edd1464bd4327" /><Relationship Type="http://schemas.openxmlformats.org/officeDocument/2006/relationships/officeDocument" Target="/ppt/presentation.xml" Id="Rb943699153744411" /></Relationships>
</file>

<file path=ppt/presentation.xml><?xml version="1.0" encoding="utf-8"?>
<p:presentation xmlns:p="http://schemas.openxmlformats.org/presentationml/2006/main">
  <p:sldMasterIdLst>
    <p:sldMasterId xmlns:r="http://schemas.openxmlformats.org/officeDocument/2006/relationships" id="2147483648" r:id="R5620ee5c31284958"/>
  </p:sldMasterIdLst>
  <p:notesMasterIdLst>
    <p:notesMasterId xmlns:r="http://schemas.openxmlformats.org/officeDocument/2006/relationships" r:id="R0a4818a949664b7d"/>
  </p:notesMasterIdLst>
  <p:sldIdLst>
    <p:sldId xmlns:r="http://schemas.openxmlformats.org/officeDocument/2006/relationships" id="256" r:id="Rb3e6bba327b04012"/>
    <p:sldId xmlns:r="http://schemas.openxmlformats.org/officeDocument/2006/relationships" id="257" r:id="Red9787346cd94571"/>
    <p:sldId xmlns:r="http://schemas.openxmlformats.org/officeDocument/2006/relationships" id="258" r:id="R1d11d812e14e4025"/>
    <p:sldId xmlns:r="http://schemas.openxmlformats.org/officeDocument/2006/relationships" id="259" r:id="R5484864475734f6d"/>
    <p:sldId xmlns:r="http://schemas.openxmlformats.org/officeDocument/2006/relationships" id="260" r:id="Rde1a2913c9cd4b05"/>
    <p:sldId xmlns:r="http://schemas.openxmlformats.org/officeDocument/2006/relationships" id="261" r:id="R70af765420b542c5"/>
    <p:sldId xmlns:r="http://schemas.openxmlformats.org/officeDocument/2006/relationships" id="262" r:id="R6282a9940c68456e"/>
    <p:sldId xmlns:r="http://schemas.openxmlformats.org/officeDocument/2006/relationships" id="263" r:id="Rb1ef0ee10cde49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d70283becfb438e" /><Relationship Type="http://schemas.openxmlformats.org/officeDocument/2006/relationships/slideMaster" Target="/ppt/slideMasters/slideMaster1.xml" Id="R5620ee5c31284958" /><Relationship Type="http://schemas.openxmlformats.org/officeDocument/2006/relationships/notesMaster" Target="/ppt/notesMasters/notesMaster1.xml" Id="R0a4818a949664b7d" /><Relationship Type="http://schemas.openxmlformats.org/officeDocument/2006/relationships/presProps" Target="/ppt/presProps.xml" Id="Rac09ab09afe64f24" /><Relationship Type="http://schemas.openxmlformats.org/officeDocument/2006/relationships/tableStyles" Target="/ppt/tableStyles.xml" Id="R2cea2be31efb4bd7" /><Relationship Type="http://schemas.openxmlformats.org/officeDocument/2006/relationships/slide" Target="/ppt/slides/slide1.xml" Id="Rb3e6bba327b04012" /><Relationship Type="http://schemas.openxmlformats.org/officeDocument/2006/relationships/slide" Target="/ppt/slides/slide2.xml" Id="Red9787346cd94571" /><Relationship Type="http://schemas.openxmlformats.org/officeDocument/2006/relationships/slide" Target="/ppt/slides/slide3.xml" Id="R1d11d812e14e4025" /><Relationship Type="http://schemas.openxmlformats.org/officeDocument/2006/relationships/slide" Target="/ppt/slides/slide4.xml" Id="R5484864475734f6d" /><Relationship Type="http://schemas.openxmlformats.org/officeDocument/2006/relationships/slide" Target="/ppt/slides/slide5.xml" Id="Rde1a2913c9cd4b05" /><Relationship Type="http://schemas.openxmlformats.org/officeDocument/2006/relationships/slide" Target="/ppt/slides/slide6.xml" Id="R70af765420b542c5" /><Relationship Type="http://schemas.openxmlformats.org/officeDocument/2006/relationships/slide" Target="/ppt/slides/slide7.xml" Id="R6282a9940c68456e" /><Relationship Type="http://schemas.openxmlformats.org/officeDocument/2006/relationships/slide" Target="/ppt/slides/slide8.xml" Id="Rb1ef0ee10cde49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424c66c02247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c2700cdf84d443e" /><Relationship Type="http://schemas.openxmlformats.org/officeDocument/2006/relationships/notesMaster" Target="/ppt/notesMasters/notesMaster1.xml" Id="R751c9120cb0a44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c30d01b806e4a55" /><Relationship Type="http://schemas.openxmlformats.org/officeDocument/2006/relationships/notesMaster" Target="/ppt/notesMasters/notesMaster1.xml" Id="R8764f5a28ae04d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4a460e3253428d" /><Relationship Type="http://schemas.openxmlformats.org/officeDocument/2006/relationships/notesMaster" Target="/ppt/notesMasters/notesMaster1.xml" Id="Re485beba0e6447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1a357bcf614fb5" /><Relationship Type="http://schemas.openxmlformats.org/officeDocument/2006/relationships/notesMaster" Target="/ppt/notesMasters/notesMaster1.xml" Id="R16fe9318c17543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49e4bb6fbf4b04" /><Relationship Type="http://schemas.openxmlformats.org/officeDocument/2006/relationships/notesMaster" Target="/ppt/notesMasters/notesMaster1.xml" Id="Rbbdd285c3c764d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359eb00dc5884002" /><Relationship Type="http://schemas.openxmlformats.org/officeDocument/2006/relationships/notesMaster" Target="/ppt/notesMasters/notesMaster1.xml" Id="Ra1620ee3c8b949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5846e679464fb0" /><Relationship Type="http://schemas.openxmlformats.org/officeDocument/2006/relationships/notesMaster" Target="/ppt/notesMasters/notesMaster1.xml" Id="Rc55b02211a5441ea"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696aa089bd4aab" /><Relationship Type="http://schemas.openxmlformats.org/officeDocument/2006/relationships/notesMaster" Target="/ppt/notesMasters/notesMaster1.xml" Id="R466a3bccedd74e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the scope: this is an engineering prototype over synthetic Synthea FHIR bundles. The presentation centers on a repeatable loop: build a compact context, ask fixed questions with known answers, inspect evidence, then measure the effect of a context-generation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inventory found 109 patient bundles from 108 KB to 52.35 MB, with 97 bundles at least 1 MB. There are 118,868 patient resources, including 46,305 Observations. The note payloads are duplicated across two FHIR representations; statuses and date fields carry meaning; 4 patients have no AllergyIntolerance entry. Source: docs/data-investigation.md and 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sequence. Ingestion and normalization preserve identity and provenance. Context selection produces the exact model input. The chat layer can retrieve facts that did not make the context. Evaluation compares the answer with a known answer and checks the evidence and budget. The output guides the next context-generation change. Current repository code implements data loading, normalization, context building, lexical retrieval, and evaluation helpers; the chat completion adapter is still future work. Source: docs/architecture.md, src/health_context/models.py.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Context selection follows explicit policy: retain safety-relevant and longitudinal facts, preserve statuses and typed dates, deduplicate only byte-matching notes, and defer billing data by default. Facts excluded from context remain available to retrieval. A context is compliant only when its exact text is counted with the specified Anthropic endpoint. Source: docs/architecture.md and docs/data-investigation.md.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questions are based on the README's sample challenge patient. The latest HbA1c observation is 6.31 percent on 2025-09-29, resource ID f5749532-3295-ad01-c588-daa4b0203574. An active prediabetes Condition is present with onset 2000-11-20. The bundle has no AllergyIntolerance resource. The trend answer should describe the observed longitudinal direction without claiming monotonic change. Source: README.md and docs/data-investigation.md.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evaluator reports separate answer/fact coverage, evidence correctness, and budget compliance. With supplied answer strings it can score chat outputs against reviewed answer expectations; without answers, it measures whether supporting facts are available in context/retrieval and labels that as coverage. Budget passes only when an in-limit Anthropic token count is present. Source: src/health_context/evaluation.py and src/health_context/models.py.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operating loop for development. Change one selection or rendering rule at a time, regenerate a versioned context, ask the same known-answer questions, then compare the three score dimensions. Inspect the underlying source IDs before changing the rules. Hold-out patients and adversarial cases should follow after the first baseline. Source: docs/development-log.md.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being precise about status. The first implementation pass contains a deterministic pipeline, lexical retrieval, and provider-independent eval helpers. It has not been run end to end. The next milestone is a chat adapter that records response plus evidence, actual Anthropic counting, and a baseline on both the sample and largest patient bundle. The data is synthetic, so these results will not establish clinical readiness. Source: docs/development-log.md and repository status at presentation creation.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366565f01544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7c8b377c644018" /><Relationship Type="http://schemas.openxmlformats.org/officeDocument/2006/relationships/slideLayout" Target="/ppt/slideLayouts/slideLayout1.xml" Id="R306329a713594d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06329a713594d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b571a630084d93" /><Relationship Type="http://schemas.openxmlformats.org/officeDocument/2006/relationships/notesSlide" Target="/ppt/notesSlides/notesSlide1.xml" Id="Rd2168f05f1874a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bceb422ef7340b6" /><Relationship Type="http://schemas.openxmlformats.org/officeDocument/2006/relationships/notesSlide" Target="/ppt/notesSlides/notesSlide2.xml" Id="R1264f2b2ca1c41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0a1795e9214d2d" /><Relationship Type="http://schemas.openxmlformats.org/officeDocument/2006/relationships/notesSlide" Target="/ppt/notesSlides/notesSlide3.xml" Id="R129c626b1e15470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a0b2d32f52d4e49" /><Relationship Type="http://schemas.openxmlformats.org/officeDocument/2006/relationships/notesSlide" Target="/ppt/notesSlides/notesSlide4.xml" Id="R9ac38ebdbba1406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d4cf911191f4151" /><Relationship Type="http://schemas.openxmlformats.org/officeDocument/2006/relationships/notesSlide" Target="/ppt/notesSlides/notesSlide5.xml" Id="R4789751f6fe240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0a03120b2a4d21" /><Relationship Type="http://schemas.openxmlformats.org/officeDocument/2006/relationships/notesSlide" Target="/ppt/notesSlides/notesSlide6.xml" Id="R91944a30add540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6c88aa4168481c" /><Relationship Type="http://schemas.openxmlformats.org/officeDocument/2006/relationships/notesSlide" Target="/ppt/notesSlides/notesSlide7.xml" Id="R23799fa0dbaf44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1eac2b696c34477" /><Relationship Type="http://schemas.openxmlformats.org/officeDocument/2006/relationships/notesSlide" Target="/ppt/notesSlides/notesSlide8.xml" Id="R6bfaf9e56cf344d0" /></Relationships>
</file>

<file path=ppt/slides/slide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D14081-6697-4F71-8201-A38DD7FA758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7C80"/>
          </a:solidFill>
          <a:ln xmlns:a="http://schemas.openxmlformats.org/drawingml/2006/main" w="0">
            <a:solidFill>
              <a:srgbClr val="167C80"/>
            </a:solidFill>
          </a:ln>
        </p:spPr>
      </p:sp>
      <p:sp>
        <p:nvSpPr>
          <p:cNvPr id="2" name="">
            <a:extLst xmlns:a="http://schemas.openxmlformats.org/drawingml/2006/main">
              <a:ext uri="{FF2B5EF4-FFF2-40B4-BE49-F238E27FC236}">
                <a16:creationId xmlns:a16="http://schemas.microsoft.com/office/drawing/2014/main" id="{DE96FDB2-271F-4187-A7CE-4F123F47AF21}"/>
              </a:ext>
            </a:extLst>
          </p:cNvPr>
          <p:cNvSpPr>
            <a:spLocks xmlns:a="http://schemas.openxmlformats.org/drawingml/2006/main" noGrp="1"/>
          </p:cNvSpPr>
          <p:nvPr/>
        </p:nvSpPr>
        <p:spPr>
          <a:xfrm xmlns:a="http://schemas.openxmlformats.org/drawingml/2006/main">
            <a:off x="800100" y="110490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167C80"/>
                </a:solidFill>
                <a:latin typeface="Helvetica Neue"/>
                <a:ea typeface="Helvetica Neue"/>
                <a:cs typeface="Helvetica Neue"/>
              </a:defRPr>
            </a:pPr>
            <a:r>
              <a:rPr sz="1200" b="1">
                <a:solidFill>
                  <a:srgbClr val="167C80"/>
                </a:solidFill>
                <a:latin typeface="Helvetica Neue"/>
                <a:ea typeface="Helvetica Neue"/>
                <a:cs typeface="Helvetica Neue"/>
              </a:rPr>
              <a:t>DEVELOPMENT REVIEW</a:t>
            </a:r>
          </a:p>
        </p:txBody>
      </p:sp>
      <p:sp>
        <p:nvSpPr>
          <p:cNvPr id="3" name="">
            <a:extLst xmlns:a="http://schemas.openxmlformats.org/drawingml/2006/main">
              <a:ext uri="{FF2B5EF4-FFF2-40B4-BE49-F238E27FC236}">
                <a16:creationId xmlns:a16="http://schemas.microsoft.com/office/drawing/2014/main" id="{4BEC0AFF-163A-4466-807C-5F7CEBB9AA34}"/>
              </a:ext>
            </a:extLst>
          </p:cNvPr>
          <p:cNvSpPr>
            <a:spLocks xmlns:a="http://schemas.openxmlformats.org/drawingml/2006/main" noGrp="1"/>
          </p:cNvSpPr>
          <p:nvPr/>
        </p:nvSpPr>
        <p:spPr>
          <a:xfrm xmlns:a="http://schemas.openxmlformats.org/drawingml/2006/main">
            <a:off x="781050" y="1600200"/>
            <a:ext cx="102870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350" b="1">
                <a:solidFill>
                  <a:srgbClr val="132E35"/>
                </a:solidFill>
                <a:latin typeface="Helvetica Neue"/>
                <a:ea typeface="Helvetica Neue"/>
                <a:cs typeface="Helvetica Neue"/>
              </a:defRPr>
            </a:pPr>
            <a:r>
              <a:rPr sz="4350" b="1">
                <a:solidFill>
                  <a:srgbClr val="132E35"/>
                </a:solidFill>
                <a:latin typeface="Helvetica Neue"/>
                <a:ea typeface="Helvetica Neue"/>
                <a:cs typeface="Helvetica Neue"/>
              </a:rPr>
              <a:t>Compact context from</a:t>
            </a:r>
          </a:p>
          <a:p xmlns:a="http://schemas.openxmlformats.org/drawingml/2006/main">
            <a:pPr algn="l">
              <a:lnSpc>
                <a:spcPct val="98000"/>
              </a:lnSpc>
              <a:buNone/>
              <a:defRPr sz="4350" b="1">
                <a:solidFill>
                  <a:srgbClr val="132E35"/>
                </a:solidFill>
                <a:latin typeface="Helvetica Neue"/>
                <a:ea typeface="Helvetica Neue"/>
                <a:cs typeface="Helvetica Neue"/>
              </a:defRPr>
            </a:pPr>
            <a:r>
              <a:rPr sz="4350" b="1">
                <a:solidFill>
                  <a:srgbClr val="132E35"/>
                </a:solidFill>
                <a:latin typeface="Helvetica Neue"/>
                <a:ea typeface="Helvetica Neue"/>
                <a:cs typeface="Helvetica Neue"/>
              </a:rPr>
              <a:t>synthetic HIE pulls</a:t>
            </a:r>
          </a:p>
        </p:txBody>
      </p:sp>
      <p:sp>
        <p:nvSpPr>
          <p:cNvPr id="4" name="">
            <a:extLst xmlns:a="http://schemas.openxmlformats.org/drawingml/2006/main">
              <a:ext uri="{FF2B5EF4-FFF2-40B4-BE49-F238E27FC236}">
                <a16:creationId xmlns:a16="http://schemas.microsoft.com/office/drawing/2014/main" id="{A56D9572-68B3-4289-A6B3-67725340D3E0}"/>
              </a:ext>
            </a:extLst>
          </p:cNvPr>
          <p:cNvSpPr>
            <a:spLocks xmlns:a="http://schemas.openxmlformats.org/drawingml/2006/main" noGrp="1"/>
          </p:cNvSpPr>
          <p:nvPr/>
        </p:nvSpPr>
        <p:spPr>
          <a:xfrm xmlns:a="http://schemas.openxmlformats.org/drawingml/2006/main">
            <a:off x="819150" y="3600450"/>
            <a:ext cx="942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50" b="0">
                <a:solidFill>
                  <a:srgbClr val="52676B"/>
                </a:solidFill>
                <a:latin typeface="Helvetica Neue"/>
                <a:ea typeface="Helvetica Neue"/>
                <a:cs typeface="Helvetica Neue"/>
              </a:defRPr>
            </a:pPr>
            <a:r>
              <a:rPr sz="1950" b="0">
                <a:solidFill>
                  <a:srgbClr val="52676B"/>
                </a:solidFill>
                <a:latin typeface="Helvetica Neue"/>
                <a:ea typeface="Helvetica Neue"/>
                <a:cs typeface="Helvetica Neue"/>
              </a:rPr>
              <a:t>A known-answer chat evaluation loop for context generation</a:t>
            </a:r>
          </a:p>
        </p:txBody>
      </p:sp>
      <p:sp>
        <p:nvSpPr>
          <p:cNvPr id="5" name="">
            <a:extLst xmlns:a="http://schemas.openxmlformats.org/drawingml/2006/main">
              <a:ext uri="{FF2B5EF4-FFF2-40B4-BE49-F238E27FC236}">
                <a16:creationId xmlns:a16="http://schemas.microsoft.com/office/drawing/2014/main" id="{85319FD9-107D-40BE-8053-2C75A4DDDC15}"/>
              </a:ext>
            </a:extLst>
          </p:cNvPr>
          <p:cNvSpPr>
            <a:spLocks xmlns:a="http://schemas.openxmlformats.org/drawingml/2006/main" noGrp="1"/>
          </p:cNvSpPr>
          <p:nvPr/>
        </p:nvSpPr>
        <p:spPr>
          <a:xfrm xmlns:a="http://schemas.openxmlformats.org/drawingml/2006/main">
            <a:off x="819150" y="4714875"/>
            <a:ext cx="10525125" cy="0"/>
          </a:xfrm>
          <a:prstGeom xmlns:a="http://schemas.openxmlformats.org/drawingml/2006/main" prst="line">
            <a:avLst/>
          </a:prstGeom>
          <a:noFill xmlns:a="http://schemas.openxmlformats.org/drawingml/2006/main"/>
          <a:ln xmlns:a="http://schemas.openxmlformats.org/drawingml/2006/main" w="19050">
            <a:solidFill>
              <a:srgbClr val="C8D5D2"/>
            </a:solidFill>
            <a:prstDash val="solid"/>
          </a:ln>
        </p:spPr>
      </p:sp>
      <p:sp>
        <p:nvSpPr>
          <p:cNvPr id="6" name="">
            <a:extLst xmlns:a="http://schemas.openxmlformats.org/drawingml/2006/main">
              <a:ext uri="{FF2B5EF4-FFF2-40B4-BE49-F238E27FC236}">
                <a16:creationId xmlns:a16="http://schemas.microsoft.com/office/drawing/2014/main" id="{719EBABF-9102-49B8-AB94-E6FF9C3F00DC}"/>
              </a:ext>
            </a:extLst>
          </p:cNvPr>
          <p:cNvSpPr>
            <a:spLocks xmlns:a="http://schemas.openxmlformats.org/drawingml/2006/main" noGrp="1"/>
          </p:cNvSpPr>
          <p:nvPr/>
        </p:nvSpPr>
        <p:spPr>
          <a:xfrm xmlns:a="http://schemas.openxmlformats.org/drawingml/2006/main">
            <a:off x="819150" y="50101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167C80"/>
                </a:solidFill>
                <a:latin typeface="Helvetica Neue"/>
                <a:ea typeface="Helvetica Neue"/>
                <a:cs typeface="Helvetica Neue"/>
              </a:defRPr>
            </a:pPr>
            <a:r>
              <a:rPr sz="1125" b="1">
                <a:solidFill>
                  <a:srgbClr val="167C80"/>
                </a:solidFill>
                <a:latin typeface="Helvetica Neue"/>
                <a:ea typeface="Helvetica Neue"/>
                <a:cs typeface="Helvetica Neue"/>
              </a:rPr>
              <a:t>Input</a:t>
            </a:r>
          </a:p>
        </p:txBody>
      </p:sp>
      <p:sp>
        <p:nvSpPr>
          <p:cNvPr id="7" name="">
            <a:extLst xmlns:a="http://schemas.openxmlformats.org/drawingml/2006/main">
              <a:ext uri="{FF2B5EF4-FFF2-40B4-BE49-F238E27FC236}">
                <a16:creationId xmlns:a16="http://schemas.microsoft.com/office/drawing/2014/main" id="{59329E4E-2721-4A5B-89FE-A202A525DE01}"/>
              </a:ext>
            </a:extLst>
          </p:cNvPr>
          <p:cNvSpPr>
            <a:spLocks xmlns:a="http://schemas.openxmlformats.org/drawingml/2006/main" noGrp="1"/>
          </p:cNvSpPr>
          <p:nvPr/>
        </p:nvSpPr>
        <p:spPr>
          <a:xfrm xmlns:a="http://schemas.openxmlformats.org/drawingml/2006/main">
            <a:off x="819150" y="52578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132E35"/>
                </a:solidFill>
                <a:latin typeface="Helvetica Neue"/>
                <a:ea typeface="Helvetica Neue"/>
                <a:cs typeface="Helvetica Neue"/>
              </a:defRPr>
            </a:pPr>
            <a:r>
              <a:rPr sz="1575" b="0">
                <a:solidFill>
                  <a:srgbClr val="132E35"/>
                </a:solidFill>
                <a:latin typeface="Helvetica Neue"/>
                <a:ea typeface="Helvetica Neue"/>
                <a:cs typeface="Helvetica Neue"/>
              </a:rPr>
              <a:t>Synthetic FHIR bundles</a:t>
            </a:r>
          </a:p>
        </p:txBody>
      </p:sp>
      <p:sp>
        <p:nvSpPr>
          <p:cNvPr id="8" name="">
            <a:extLst xmlns:a="http://schemas.openxmlformats.org/drawingml/2006/main">
              <a:ext uri="{FF2B5EF4-FFF2-40B4-BE49-F238E27FC236}">
                <a16:creationId xmlns:a16="http://schemas.microsoft.com/office/drawing/2014/main" id="{D52142F3-91EA-4D07-8F73-83F1D308BBC9}"/>
              </a:ext>
            </a:extLst>
          </p:cNvPr>
          <p:cNvSpPr>
            <a:spLocks xmlns:a="http://schemas.openxmlformats.org/drawingml/2006/main" noGrp="1"/>
          </p:cNvSpPr>
          <p:nvPr/>
        </p:nvSpPr>
        <p:spPr>
          <a:xfrm xmlns:a="http://schemas.openxmlformats.org/drawingml/2006/main">
            <a:off x="4362450" y="5010150"/>
            <a:ext cx="114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167C80"/>
                </a:solidFill>
                <a:latin typeface="Helvetica Neue"/>
                <a:ea typeface="Helvetica Neue"/>
                <a:cs typeface="Helvetica Neue"/>
              </a:defRPr>
            </a:pPr>
            <a:r>
              <a:rPr sz="1125" b="1">
                <a:solidFill>
                  <a:srgbClr val="167C80"/>
                </a:solidFill>
                <a:latin typeface="Helvetica Neue"/>
                <a:ea typeface="Helvetica Neue"/>
                <a:cs typeface="Helvetica Neue"/>
              </a:rPr>
              <a:t>Measure</a:t>
            </a:r>
          </a:p>
        </p:txBody>
      </p:sp>
      <p:sp>
        <p:nvSpPr>
          <p:cNvPr id="9" name="">
            <a:extLst xmlns:a="http://schemas.openxmlformats.org/drawingml/2006/main">
              <a:ext uri="{FF2B5EF4-FFF2-40B4-BE49-F238E27FC236}">
                <a16:creationId xmlns:a16="http://schemas.microsoft.com/office/drawing/2014/main" id="{CA01C13A-C2BA-4AF9-B9DD-FDA20839625A}"/>
              </a:ext>
            </a:extLst>
          </p:cNvPr>
          <p:cNvSpPr>
            <a:spLocks xmlns:a="http://schemas.openxmlformats.org/drawingml/2006/main" noGrp="1"/>
          </p:cNvSpPr>
          <p:nvPr/>
        </p:nvSpPr>
        <p:spPr>
          <a:xfrm xmlns:a="http://schemas.openxmlformats.org/drawingml/2006/main">
            <a:off x="4362450" y="52578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132E35"/>
                </a:solidFill>
                <a:latin typeface="Helvetica Neue"/>
                <a:ea typeface="Helvetica Neue"/>
                <a:cs typeface="Helvetica Neue"/>
              </a:defRPr>
            </a:pPr>
            <a:r>
              <a:rPr sz="1575" b="0">
                <a:solidFill>
                  <a:srgbClr val="132E35"/>
                </a:solidFill>
                <a:latin typeface="Helvetica Neue"/>
                <a:ea typeface="Helvetica Neue"/>
                <a:cs typeface="Helvetica Neue"/>
              </a:rPr>
              <a:t>Known answers + source evidence</a:t>
            </a:r>
          </a:p>
        </p:txBody>
      </p:sp>
      <p:sp>
        <p:nvSpPr>
          <p:cNvPr id="10" name="">
            <a:extLst xmlns:a="http://schemas.openxmlformats.org/drawingml/2006/main">
              <a:ext uri="{FF2B5EF4-FFF2-40B4-BE49-F238E27FC236}">
                <a16:creationId xmlns:a16="http://schemas.microsoft.com/office/drawing/2014/main" id="{8BEEE58C-6F35-4F2A-8DA1-935C92B9E8BF}"/>
              </a:ext>
            </a:extLst>
          </p:cNvPr>
          <p:cNvSpPr>
            <a:spLocks xmlns:a="http://schemas.openxmlformats.org/drawingml/2006/main" noGrp="1"/>
          </p:cNvSpPr>
          <p:nvPr/>
        </p:nvSpPr>
        <p:spPr>
          <a:xfrm xmlns:a="http://schemas.openxmlformats.org/drawingml/2006/main">
            <a:off x="9296400" y="50101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167C80"/>
                </a:solidFill>
                <a:latin typeface="Helvetica Neue"/>
                <a:ea typeface="Helvetica Neue"/>
                <a:cs typeface="Helvetica Neue"/>
              </a:defRPr>
            </a:pPr>
            <a:r>
              <a:rPr sz="1125" b="1">
                <a:solidFill>
                  <a:srgbClr val="167C80"/>
                </a:solidFill>
                <a:latin typeface="Helvetica Neue"/>
                <a:ea typeface="Helvetica Neue"/>
                <a:cs typeface="Helvetica Neue"/>
              </a:rPr>
              <a:t>Goal</a:t>
            </a:r>
          </a:p>
        </p:txBody>
      </p:sp>
      <p:sp>
        <p:nvSpPr>
          <p:cNvPr id="11" name="">
            <a:extLst xmlns:a="http://schemas.openxmlformats.org/drawingml/2006/main">
              <a:ext uri="{FF2B5EF4-FFF2-40B4-BE49-F238E27FC236}">
                <a16:creationId xmlns:a16="http://schemas.microsoft.com/office/drawing/2014/main" id="{2B5C55D8-E7FC-4F01-9BBD-8653095D69AF}"/>
              </a:ext>
            </a:extLst>
          </p:cNvPr>
          <p:cNvSpPr>
            <a:spLocks xmlns:a="http://schemas.openxmlformats.org/drawingml/2006/main" noGrp="1"/>
          </p:cNvSpPr>
          <p:nvPr/>
        </p:nvSpPr>
        <p:spPr>
          <a:xfrm xmlns:a="http://schemas.openxmlformats.org/drawingml/2006/main">
            <a:off x="9296400" y="5257800"/>
            <a:ext cx="2476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8000"/>
              </a:lnSpc>
              <a:buNone/>
              <a:defRPr sz="1575" b="0">
                <a:solidFill>
                  <a:srgbClr val="132E35"/>
                </a:solidFill>
                <a:latin typeface="Helvetica Neue"/>
                <a:ea typeface="Helvetica Neue"/>
                <a:cs typeface="Helvetica Neue"/>
              </a:defRPr>
            </a:pPr>
            <a:r>
              <a:rPr sz="1575" b="0">
                <a:solidFill>
                  <a:srgbClr val="132E35"/>
                </a:solidFill>
                <a:latin typeface="Helvetica Neue"/>
                <a:ea typeface="Helvetica Neue"/>
                <a:cs typeface="Helvetica Neue"/>
              </a:rPr>
              <a:t>Change context, compare output</a:t>
            </a:r>
          </a:p>
        </p:txBody>
      </p:sp>
    </p:spTree>
    <p:extLst>
      <p:ext uri="{BB962C8B-B14F-4D97-AF65-F5344CB8AC3E}">
        <p14:creationId xmlns:p14="http://schemas.microsoft.com/office/powerpoint/2010/main" val="1754374602"/>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50895F8-B90B-481D-AF22-A2BEF15D00D9}"/>
              </a:ext>
            </a:extLst>
          </p:cNvPr>
          <p:cNvSpPr>
            <a:spLocks xmlns:a="http://schemas.openxmlformats.org/drawingml/2006/main" noGrp="1"/>
          </p:cNvSpPr>
          <p:nvPr/>
        </p:nvSpPr>
        <p:spPr>
          <a:xfrm xmlns:a="http://schemas.openxmlformats.org/drawingml/2006/main">
            <a:off x="647700" y="400050"/>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132E35"/>
                </a:solidFill>
                <a:latin typeface="Helvetica Neue"/>
                <a:ea typeface="Helvetica Neue"/>
                <a:cs typeface="Helvetica Neue"/>
              </a:defRPr>
            </a:pPr>
            <a:r>
              <a:rPr sz="3150" b="1">
                <a:solidFill>
                  <a:srgbClr val="132E35"/>
                </a:solidFill>
                <a:latin typeface="Helvetica Neue"/>
                <a:ea typeface="Helvetica Neue"/>
                <a:cs typeface="Helvetica Neue"/>
              </a:rPr>
              <a:t>The data sets the compression problem</a:t>
            </a:r>
          </a:p>
        </p:txBody>
      </p:sp>
      <p:sp>
        <p:nvSpPr>
          <p:cNvPr id="2" name="">
            <a:extLst xmlns:a="http://schemas.openxmlformats.org/drawingml/2006/main">
              <a:ext uri="{FF2B5EF4-FFF2-40B4-BE49-F238E27FC236}">
                <a16:creationId xmlns:a16="http://schemas.microsoft.com/office/drawing/2014/main" id="{6FC9497C-27E4-4A5F-81B6-D8FC6D8C7887}"/>
              </a:ext>
            </a:extLst>
          </p:cNvPr>
          <p:cNvSpPr>
            <a:spLocks xmlns:a="http://schemas.openxmlformats.org/drawingml/2006/main" noGrp="1"/>
          </p:cNvSpPr>
          <p:nvPr/>
        </p:nvSpPr>
        <p:spPr>
          <a:xfrm xmlns:a="http://schemas.openxmlformats.org/drawingml/2006/main">
            <a:off x="66675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2676B"/>
                </a:solidFill>
                <a:latin typeface="Helvetica Neue"/>
                <a:ea typeface="Helvetica Neue"/>
                <a:cs typeface="Helvetica Neue"/>
              </a:defRPr>
            </a:pPr>
            <a:r>
              <a:rPr sz="1575" b="0">
                <a:solidFill>
                  <a:srgbClr val="52676B"/>
                </a:solidFill>
                <a:latin typeface="Helvetica Neue"/>
                <a:ea typeface="Helvetica Neue"/>
                <a:cs typeface="Helvetica Neue"/>
              </a:rPr>
              <a:t>A broad range of bundle sizes, resource types, and record states</a:t>
            </a:r>
          </a:p>
        </p:txBody>
      </p:sp>
      <p:sp>
        <p:nvSpPr>
          <p:cNvPr id="3" name="">
            <a:extLst xmlns:a="http://schemas.openxmlformats.org/drawingml/2006/main">
              <a:ext uri="{FF2B5EF4-FFF2-40B4-BE49-F238E27FC236}">
                <a16:creationId xmlns:a16="http://schemas.microsoft.com/office/drawing/2014/main" id="{01EFCB3F-9ED6-451F-9715-211967DB9768}"/>
              </a:ext>
            </a:extLst>
          </p:cNvPr>
          <p:cNvSpPr>
            <a:spLocks xmlns:a="http://schemas.openxmlformats.org/drawingml/2006/main" noGrp="1"/>
          </p:cNvSpPr>
          <p:nvPr/>
        </p:nvSpPr>
        <p:spPr>
          <a:xfrm xmlns:a="http://schemas.openxmlformats.org/drawingml/2006/main">
            <a:off x="647700" y="6429375"/>
            <a:ext cx="108966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4" name="">
            <a:extLst xmlns:a="http://schemas.openxmlformats.org/drawingml/2006/main">
              <a:ext uri="{FF2B5EF4-FFF2-40B4-BE49-F238E27FC236}">
                <a16:creationId xmlns:a16="http://schemas.microsoft.com/office/drawing/2014/main" id="{D165D294-42D5-4146-A370-BF12D7C67007}"/>
              </a:ext>
            </a:extLst>
          </p:cNvPr>
          <p:cNvSpPr>
            <a:spLocks xmlns:a="http://schemas.openxmlformats.org/drawingml/2006/main" noGrp="1"/>
          </p:cNvSpPr>
          <p:nvPr/>
        </p:nvSpPr>
        <p:spPr>
          <a:xfrm xmlns:a="http://schemas.openxmlformats.org/drawingml/2006/main">
            <a:off x="647700" y="6534150"/>
            <a:ext cx="7239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52676B"/>
                </a:solidFill>
                <a:latin typeface="Helvetica Neue"/>
                <a:ea typeface="Helvetica Neue"/>
                <a:cs typeface="Helvetica Neue"/>
              </a:defRPr>
            </a:pPr>
            <a:r>
              <a:rPr sz="900" b="1">
                <a:solidFill>
                  <a:srgbClr val="52676B"/>
                </a:solidFill>
                <a:latin typeface="Helvetica Neue"/>
                <a:ea typeface="Helvetica Neue"/>
                <a:cs typeface="Helvetica Neue"/>
              </a:rPr>
              <a:t>SYNTHETIC HIE  /  CONTEXT + EVALUATION</a:t>
            </a:r>
          </a:p>
        </p:txBody>
      </p:sp>
      <p:sp>
        <p:nvSpPr>
          <p:cNvPr id="5" name="">
            <a:extLst xmlns:a="http://schemas.openxmlformats.org/drawingml/2006/main">
              <a:ext uri="{FF2B5EF4-FFF2-40B4-BE49-F238E27FC236}">
                <a16:creationId xmlns:a16="http://schemas.microsoft.com/office/drawing/2014/main" id="{56A25A56-3B7F-4ACC-BC18-CC71E10D7652}"/>
              </a:ext>
            </a:extLst>
          </p:cNvPr>
          <p:cNvSpPr>
            <a:spLocks xmlns:a="http://schemas.openxmlformats.org/drawingml/2006/main" noGrp="1"/>
          </p:cNvSpPr>
          <p:nvPr/>
        </p:nvSpPr>
        <p:spPr>
          <a:xfrm xmlns:a="http://schemas.openxmlformats.org/drawingml/2006/main">
            <a:off x="11049000" y="65151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a:solidFill>
                  <a:srgbClr val="52676B"/>
                </a:solidFill>
                <a:latin typeface="Helvetica Neue"/>
                <a:ea typeface="Helvetica Neue"/>
                <a:cs typeface="Helvetica Neue"/>
              </a:defRPr>
            </a:pPr>
            <a:r>
              <a:rPr sz="975" b="0">
                <a:solidFill>
                  <a:srgbClr val="52676B"/>
                </a:solidFill>
                <a:latin typeface="Helvetica Neue"/>
                <a:ea typeface="Helvetica Neue"/>
                <a:cs typeface="Helvetica Neue"/>
              </a:rPr>
              <a:t>02</a:t>
            </a:r>
          </a:p>
        </p:txBody>
      </p:sp>
      <p:sp>
        <p:nvSpPr>
          <p:cNvPr id="6" name="">
            <a:extLst xmlns:a="http://schemas.openxmlformats.org/drawingml/2006/main">
              <a:ext uri="{FF2B5EF4-FFF2-40B4-BE49-F238E27FC236}">
                <a16:creationId xmlns:a16="http://schemas.microsoft.com/office/drawing/2014/main" id="{562209B1-0627-4ADD-A59C-92A18B40B654}"/>
              </a:ext>
            </a:extLst>
          </p:cNvPr>
          <p:cNvSpPr>
            <a:spLocks xmlns:a="http://schemas.openxmlformats.org/drawingml/2006/main" noGrp="1"/>
          </p:cNvSpPr>
          <p:nvPr/>
        </p:nvSpPr>
        <p:spPr>
          <a:xfrm xmlns:a="http://schemas.openxmlformats.org/drawingml/2006/main">
            <a:off x="685800" y="171450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225" b="1">
                <a:solidFill>
                  <a:srgbClr val="167C80"/>
                </a:solidFill>
                <a:latin typeface="Helvetica Neue"/>
                <a:ea typeface="Helvetica Neue"/>
                <a:cs typeface="Helvetica Neue"/>
              </a:defRPr>
            </a:pPr>
            <a:r>
              <a:rPr sz="3225" b="1">
                <a:solidFill>
                  <a:srgbClr val="167C80"/>
                </a:solidFill>
                <a:latin typeface="Helvetica Neue"/>
                <a:ea typeface="Helvetica Neue"/>
                <a:cs typeface="Helvetica Neue"/>
              </a:rPr>
              <a:t>109</a:t>
            </a:r>
          </a:p>
        </p:txBody>
      </p:sp>
      <p:sp>
        <p:nvSpPr>
          <p:cNvPr id="7" name="">
            <a:extLst xmlns:a="http://schemas.openxmlformats.org/drawingml/2006/main">
              <a:ext uri="{FF2B5EF4-FFF2-40B4-BE49-F238E27FC236}">
                <a16:creationId xmlns:a16="http://schemas.microsoft.com/office/drawing/2014/main" id="{CDFE9948-B92A-41B9-B70D-72A8135AF1AC}"/>
              </a:ext>
            </a:extLst>
          </p:cNvPr>
          <p:cNvSpPr>
            <a:spLocks xmlns:a="http://schemas.openxmlformats.org/drawingml/2006/main" noGrp="1"/>
          </p:cNvSpPr>
          <p:nvPr/>
        </p:nvSpPr>
        <p:spPr>
          <a:xfrm xmlns:a="http://schemas.openxmlformats.org/drawingml/2006/main">
            <a:off x="685800" y="239077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76B"/>
                </a:solidFill>
                <a:latin typeface="Helvetica Neue"/>
                <a:ea typeface="Helvetica Neue"/>
                <a:cs typeface="Helvetica Neue"/>
              </a:defRPr>
            </a:pPr>
            <a:r>
              <a:rPr sz="1425" b="0">
                <a:solidFill>
                  <a:srgbClr val="52676B"/>
                </a:solidFill>
                <a:latin typeface="Helvetica Neue"/>
                <a:ea typeface="Helvetica Neue"/>
                <a:cs typeface="Helvetica Neue"/>
              </a:rPr>
              <a:t>patient bundles</a:t>
            </a:r>
          </a:p>
        </p:txBody>
      </p:sp>
      <p:sp>
        <p:nvSpPr>
          <p:cNvPr id="8" name="">
            <a:extLst xmlns:a="http://schemas.openxmlformats.org/drawingml/2006/main">
              <a:ext uri="{FF2B5EF4-FFF2-40B4-BE49-F238E27FC236}">
                <a16:creationId xmlns:a16="http://schemas.microsoft.com/office/drawing/2014/main" id="{BE55A104-4FAC-423B-B3C5-BA342D08A923}"/>
              </a:ext>
            </a:extLst>
          </p:cNvPr>
          <p:cNvSpPr>
            <a:spLocks xmlns:a="http://schemas.openxmlformats.org/drawingml/2006/main" noGrp="1"/>
          </p:cNvSpPr>
          <p:nvPr/>
        </p:nvSpPr>
        <p:spPr>
          <a:xfrm xmlns:a="http://schemas.openxmlformats.org/drawingml/2006/main">
            <a:off x="3448050" y="171450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225" b="1">
                <a:solidFill>
                  <a:srgbClr val="C56A3B"/>
                </a:solidFill>
                <a:latin typeface="Helvetica Neue"/>
                <a:ea typeface="Helvetica Neue"/>
                <a:cs typeface="Helvetica Neue"/>
              </a:defRPr>
            </a:pPr>
            <a:r>
              <a:rPr sz="3225" b="1">
                <a:solidFill>
                  <a:srgbClr val="C56A3B"/>
                </a:solidFill>
                <a:latin typeface="Helvetica Neue"/>
                <a:ea typeface="Helvetica Neue"/>
                <a:cs typeface="Helvetica Neue"/>
              </a:rPr>
              <a:t>52.3 MB</a:t>
            </a:r>
          </a:p>
        </p:txBody>
      </p:sp>
      <p:sp>
        <p:nvSpPr>
          <p:cNvPr id="9" name="">
            <a:extLst xmlns:a="http://schemas.openxmlformats.org/drawingml/2006/main">
              <a:ext uri="{FF2B5EF4-FFF2-40B4-BE49-F238E27FC236}">
                <a16:creationId xmlns:a16="http://schemas.microsoft.com/office/drawing/2014/main" id="{E73F6ED8-148E-4E80-BA5B-0D3F45BCE2B4}"/>
              </a:ext>
            </a:extLst>
          </p:cNvPr>
          <p:cNvSpPr>
            <a:spLocks xmlns:a="http://schemas.openxmlformats.org/drawingml/2006/main" noGrp="1"/>
          </p:cNvSpPr>
          <p:nvPr/>
        </p:nvSpPr>
        <p:spPr>
          <a:xfrm xmlns:a="http://schemas.openxmlformats.org/drawingml/2006/main">
            <a:off x="3448050" y="239077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76B"/>
                </a:solidFill>
                <a:latin typeface="Helvetica Neue"/>
                <a:ea typeface="Helvetica Neue"/>
                <a:cs typeface="Helvetica Neue"/>
              </a:defRPr>
            </a:pPr>
            <a:r>
              <a:rPr sz="1425" b="0">
                <a:solidFill>
                  <a:srgbClr val="52676B"/>
                </a:solidFill>
                <a:latin typeface="Helvetica Neue"/>
                <a:ea typeface="Helvetica Neue"/>
                <a:cs typeface="Helvetica Neue"/>
              </a:rPr>
              <a:t>largest patient bundle</a:t>
            </a:r>
          </a:p>
        </p:txBody>
      </p:sp>
      <p:sp>
        <p:nvSpPr>
          <p:cNvPr id="10" name="">
            <a:extLst xmlns:a="http://schemas.openxmlformats.org/drawingml/2006/main">
              <a:ext uri="{FF2B5EF4-FFF2-40B4-BE49-F238E27FC236}">
                <a16:creationId xmlns:a16="http://schemas.microsoft.com/office/drawing/2014/main" id="{BC8B887E-67D4-4885-ABD0-AD0815EAAD9E}"/>
              </a:ext>
            </a:extLst>
          </p:cNvPr>
          <p:cNvSpPr>
            <a:spLocks xmlns:a="http://schemas.openxmlformats.org/drawingml/2006/main" noGrp="1"/>
          </p:cNvSpPr>
          <p:nvPr/>
        </p:nvSpPr>
        <p:spPr>
          <a:xfrm xmlns:a="http://schemas.openxmlformats.org/drawingml/2006/main">
            <a:off x="6210300" y="171450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225" b="1">
                <a:solidFill>
                  <a:srgbClr val="167C80"/>
                </a:solidFill>
                <a:latin typeface="Helvetica Neue"/>
                <a:ea typeface="Helvetica Neue"/>
                <a:cs typeface="Helvetica Neue"/>
              </a:defRPr>
            </a:pPr>
            <a:r>
              <a:rPr sz="3225" b="1">
                <a:solidFill>
                  <a:srgbClr val="167C80"/>
                </a:solidFill>
                <a:latin typeface="Helvetica Neue"/>
                <a:ea typeface="Helvetica Neue"/>
                <a:cs typeface="Helvetica Neue"/>
              </a:rPr>
              <a:t>46,305</a:t>
            </a:r>
          </a:p>
        </p:txBody>
      </p:sp>
      <p:sp>
        <p:nvSpPr>
          <p:cNvPr id="11" name="">
            <a:extLst xmlns:a="http://schemas.openxmlformats.org/drawingml/2006/main">
              <a:ext uri="{FF2B5EF4-FFF2-40B4-BE49-F238E27FC236}">
                <a16:creationId xmlns:a16="http://schemas.microsoft.com/office/drawing/2014/main" id="{5CCCB7DF-45FF-48E3-B736-B893DDC68B93}"/>
              </a:ext>
            </a:extLst>
          </p:cNvPr>
          <p:cNvSpPr>
            <a:spLocks xmlns:a="http://schemas.openxmlformats.org/drawingml/2006/main" noGrp="1"/>
          </p:cNvSpPr>
          <p:nvPr/>
        </p:nvSpPr>
        <p:spPr>
          <a:xfrm xmlns:a="http://schemas.openxmlformats.org/drawingml/2006/main">
            <a:off x="6210300" y="239077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76B"/>
                </a:solidFill>
                <a:latin typeface="Helvetica Neue"/>
                <a:ea typeface="Helvetica Neue"/>
                <a:cs typeface="Helvetica Neue"/>
              </a:defRPr>
            </a:pPr>
            <a:r>
              <a:rPr sz="1425" b="0">
                <a:solidFill>
                  <a:srgbClr val="52676B"/>
                </a:solidFill>
                <a:latin typeface="Helvetica Neue"/>
                <a:ea typeface="Helvetica Neue"/>
                <a:cs typeface="Helvetica Neue"/>
              </a:rPr>
              <a:t>Observation resources</a:t>
            </a:r>
          </a:p>
        </p:txBody>
      </p:sp>
      <p:sp>
        <p:nvSpPr>
          <p:cNvPr id="12" name="">
            <a:extLst xmlns:a="http://schemas.openxmlformats.org/drawingml/2006/main">
              <a:ext uri="{FF2B5EF4-FFF2-40B4-BE49-F238E27FC236}">
                <a16:creationId xmlns:a16="http://schemas.microsoft.com/office/drawing/2014/main" id="{B3EF1B97-3FE4-4A8E-BACF-6E96F8A76756}"/>
              </a:ext>
            </a:extLst>
          </p:cNvPr>
          <p:cNvSpPr>
            <a:spLocks xmlns:a="http://schemas.openxmlformats.org/drawingml/2006/main" noGrp="1"/>
          </p:cNvSpPr>
          <p:nvPr/>
        </p:nvSpPr>
        <p:spPr>
          <a:xfrm xmlns:a="http://schemas.openxmlformats.org/drawingml/2006/main">
            <a:off x="8972550" y="1714500"/>
            <a:ext cx="238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225" b="1">
                <a:solidFill>
                  <a:srgbClr val="167C80"/>
                </a:solidFill>
                <a:latin typeface="Helvetica Neue"/>
                <a:ea typeface="Helvetica Neue"/>
                <a:cs typeface="Helvetica Neue"/>
              </a:defRPr>
            </a:pPr>
            <a:r>
              <a:rPr sz="3225" b="1">
                <a:solidFill>
                  <a:srgbClr val="167C80"/>
                </a:solidFill>
                <a:latin typeface="Helvetica Neue"/>
                <a:ea typeface="Helvetica Neue"/>
                <a:cs typeface="Helvetica Neue"/>
              </a:rPr>
              <a:t>97 / 109</a:t>
            </a:r>
          </a:p>
        </p:txBody>
      </p:sp>
      <p:sp>
        <p:nvSpPr>
          <p:cNvPr id="13" name="">
            <a:extLst xmlns:a="http://schemas.openxmlformats.org/drawingml/2006/main">
              <a:ext uri="{FF2B5EF4-FFF2-40B4-BE49-F238E27FC236}">
                <a16:creationId xmlns:a16="http://schemas.microsoft.com/office/drawing/2014/main" id="{E296DA64-13E2-4616-B575-C6B59BFCF45E}"/>
              </a:ext>
            </a:extLst>
          </p:cNvPr>
          <p:cNvSpPr>
            <a:spLocks xmlns:a="http://schemas.openxmlformats.org/drawingml/2006/main" noGrp="1"/>
          </p:cNvSpPr>
          <p:nvPr/>
        </p:nvSpPr>
        <p:spPr>
          <a:xfrm xmlns:a="http://schemas.openxmlformats.org/drawingml/2006/main">
            <a:off x="8972550" y="239077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52676B"/>
                </a:solidFill>
                <a:latin typeface="Helvetica Neue"/>
                <a:ea typeface="Helvetica Neue"/>
                <a:cs typeface="Helvetica Neue"/>
              </a:defRPr>
            </a:pPr>
            <a:r>
              <a:rPr sz="1425" b="0">
                <a:solidFill>
                  <a:srgbClr val="52676B"/>
                </a:solidFill>
                <a:latin typeface="Helvetica Neue"/>
                <a:ea typeface="Helvetica Neue"/>
                <a:cs typeface="Helvetica Neue"/>
              </a:rPr>
              <a:t>bundles at least 1 MB</a:t>
            </a:r>
          </a:p>
        </p:txBody>
      </p:sp>
      <p:sp>
        <p:nvSpPr>
          <p:cNvPr id="14" name="">
            <a:extLst xmlns:a="http://schemas.openxmlformats.org/drawingml/2006/main">
              <a:ext uri="{FF2B5EF4-FFF2-40B4-BE49-F238E27FC236}">
                <a16:creationId xmlns:a16="http://schemas.microsoft.com/office/drawing/2014/main" id="{E1D75FD7-6E93-43E1-A61D-B7FDFFB6FBA0}"/>
              </a:ext>
            </a:extLst>
          </p:cNvPr>
          <p:cNvSpPr>
            <a:spLocks xmlns:a="http://schemas.openxmlformats.org/drawingml/2006/main" noGrp="1"/>
          </p:cNvSpPr>
          <p:nvPr/>
        </p:nvSpPr>
        <p:spPr>
          <a:xfrm xmlns:a="http://schemas.openxmlformats.org/drawingml/2006/main">
            <a:off x="685800" y="3105150"/>
            <a:ext cx="1083945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5" name="">
            <a:extLst xmlns:a="http://schemas.openxmlformats.org/drawingml/2006/main">
              <a:ext uri="{FF2B5EF4-FFF2-40B4-BE49-F238E27FC236}">
                <a16:creationId xmlns:a16="http://schemas.microsoft.com/office/drawing/2014/main" id="{DCBD3E8F-B862-46B9-821D-7175C11CF0B9}"/>
              </a:ext>
            </a:extLst>
          </p:cNvPr>
          <p:cNvSpPr>
            <a:spLocks xmlns:a="http://schemas.openxmlformats.org/drawingml/2006/main" noGrp="1"/>
          </p:cNvSpPr>
          <p:nvPr/>
        </p:nvSpPr>
        <p:spPr>
          <a:xfrm xmlns:a="http://schemas.openxmlformats.org/drawingml/2006/main">
            <a:off x="685800" y="3371850"/>
            <a:ext cx="571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950" b="1">
                <a:solidFill>
                  <a:srgbClr val="132E35"/>
                </a:solidFill>
                <a:latin typeface="Helvetica Neue"/>
                <a:ea typeface="Helvetica Neue"/>
                <a:cs typeface="Helvetica Neue"/>
              </a:defRPr>
            </a:pPr>
            <a:r>
              <a:rPr sz="1950" b="1">
                <a:solidFill>
                  <a:srgbClr val="132E35"/>
                </a:solidFill>
                <a:latin typeface="Helvetica Neue"/>
                <a:ea typeface="Helvetica Neue"/>
                <a:cs typeface="Helvetica Neue"/>
              </a:rPr>
              <a:t>Three details shape the first pass</a:t>
            </a:r>
          </a:p>
        </p:txBody>
      </p:sp>
      <p:sp>
        <p:nvSpPr>
          <p:cNvPr id="16" name="">
            <a:extLst xmlns:a="http://schemas.openxmlformats.org/drawingml/2006/main">
              <a:ext uri="{FF2B5EF4-FFF2-40B4-BE49-F238E27FC236}">
                <a16:creationId xmlns:a16="http://schemas.microsoft.com/office/drawing/2014/main" id="{0AEE498C-6DB1-4BC2-919A-71B3D4294F9C}"/>
              </a:ext>
            </a:extLst>
          </p:cNvPr>
          <p:cNvSpPr>
            <a:spLocks xmlns:a="http://schemas.openxmlformats.org/drawingml/2006/main" noGrp="1"/>
          </p:cNvSpPr>
          <p:nvPr/>
        </p:nvSpPr>
        <p:spPr>
          <a:xfrm xmlns:a="http://schemas.openxmlformats.org/drawingml/2006/main">
            <a:off x="685800" y="3971925"/>
            <a:ext cx="1104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67C80"/>
                </a:solidFill>
                <a:latin typeface="Helvetica Neue"/>
                <a:ea typeface="Helvetica Neue"/>
                <a:cs typeface="Helvetica Neue"/>
              </a:defRPr>
            </a:pPr>
            <a:r>
              <a:rPr sz="1350" b="1">
                <a:solidFill>
                  <a:srgbClr val="167C80"/>
                </a:solidFill>
                <a:latin typeface="Helvetica Neue"/>
                <a:ea typeface="Helvetica Neue"/>
                <a:cs typeface="Helvetica Neue"/>
              </a:rPr>
              <a:t>Notes</a:t>
            </a:r>
          </a:p>
        </p:txBody>
      </p:sp>
      <p:sp>
        <p:nvSpPr>
          <p:cNvPr id="17" name="">
            <a:extLst xmlns:a="http://schemas.openxmlformats.org/drawingml/2006/main">
              <a:ext uri="{FF2B5EF4-FFF2-40B4-BE49-F238E27FC236}">
                <a16:creationId xmlns:a16="http://schemas.microsoft.com/office/drawing/2014/main" id="{4CF4277D-4B46-45F5-9E6F-46DC0EEB1059}"/>
              </a:ext>
            </a:extLst>
          </p:cNvPr>
          <p:cNvSpPr>
            <a:spLocks xmlns:a="http://schemas.openxmlformats.org/drawingml/2006/main" noGrp="1"/>
          </p:cNvSpPr>
          <p:nvPr/>
        </p:nvSpPr>
        <p:spPr>
          <a:xfrm xmlns:a="http://schemas.openxmlformats.org/drawingml/2006/main">
            <a:off x="1905000" y="3943350"/>
            <a:ext cx="9191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4522"/>
          </a:bodyPr>
          <a:lstStyle xmlns:a="http://schemas.openxmlformats.org/drawingml/2006/main"/>
          <a:p xmlns:a="http://schemas.openxmlformats.org/drawingml/2006/main">
            <a:pPr algn="l">
              <a:lnSpc>
                <a:spcPct val="108000"/>
              </a:lnSpc>
              <a:buNone/>
              <a:defRPr sz="1500" b="0">
                <a:solidFill>
                  <a:srgbClr val="132E35"/>
                </a:solidFill>
                <a:latin typeface="Helvetica Neue"/>
                <a:ea typeface="Helvetica Neue"/>
                <a:cs typeface="Helvetica Neue"/>
              </a:defRPr>
            </a:pPr>
            <a:r>
              <a:rPr sz="1500" b="0">
                <a:solidFill>
                  <a:srgbClr val="132E35"/>
                </a:solidFill>
                <a:latin typeface="Helvetica Neue"/>
                <a:ea typeface="Helvetica Neue"/>
                <a:cs typeface="Helvetica Neue"/>
              </a:rPr>
              <a:t>Encounter note payloads match across DocumentReference and DiagnosticReport. Keep one text copy and retain both source links.</a:t>
            </a:r>
          </a:p>
        </p:txBody>
      </p:sp>
      <p:sp>
        <p:nvSpPr>
          <p:cNvPr id="18" name="">
            <a:extLst xmlns:a="http://schemas.openxmlformats.org/drawingml/2006/main">
              <a:ext uri="{FF2B5EF4-FFF2-40B4-BE49-F238E27FC236}">
                <a16:creationId xmlns:a16="http://schemas.microsoft.com/office/drawing/2014/main" id="{18D88173-561A-4DA5-B754-3C3FF01A5B1E}"/>
              </a:ext>
            </a:extLst>
          </p:cNvPr>
          <p:cNvSpPr>
            <a:spLocks xmlns:a="http://schemas.openxmlformats.org/drawingml/2006/main" noGrp="1"/>
          </p:cNvSpPr>
          <p:nvPr/>
        </p:nvSpPr>
        <p:spPr>
          <a:xfrm xmlns:a="http://schemas.openxmlformats.org/drawingml/2006/main">
            <a:off x="685800" y="4562475"/>
            <a:ext cx="1083945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9" name="">
            <a:extLst xmlns:a="http://schemas.openxmlformats.org/drawingml/2006/main">
              <a:ext uri="{FF2B5EF4-FFF2-40B4-BE49-F238E27FC236}">
                <a16:creationId xmlns:a16="http://schemas.microsoft.com/office/drawing/2014/main" id="{C63FC261-3CF6-47D7-823C-4446B006DBE3}"/>
              </a:ext>
            </a:extLst>
          </p:cNvPr>
          <p:cNvSpPr>
            <a:spLocks xmlns:a="http://schemas.openxmlformats.org/drawingml/2006/main" noGrp="1"/>
          </p:cNvSpPr>
          <p:nvPr/>
        </p:nvSpPr>
        <p:spPr>
          <a:xfrm xmlns:a="http://schemas.openxmlformats.org/drawingml/2006/main">
            <a:off x="685800" y="4819650"/>
            <a:ext cx="1104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67C80"/>
                </a:solidFill>
                <a:latin typeface="Helvetica Neue"/>
                <a:ea typeface="Helvetica Neue"/>
                <a:cs typeface="Helvetica Neue"/>
              </a:defRPr>
            </a:pPr>
            <a:r>
              <a:rPr sz="1350" b="1">
                <a:solidFill>
                  <a:srgbClr val="167C80"/>
                </a:solidFill>
                <a:latin typeface="Helvetica Neue"/>
                <a:ea typeface="Helvetica Neue"/>
                <a:cs typeface="Helvetica Neue"/>
              </a:rPr>
              <a:t>Statuses</a:t>
            </a:r>
          </a:p>
        </p:txBody>
      </p:sp>
      <p:sp>
        <p:nvSpPr>
          <p:cNvPr id="20" name="">
            <a:extLst xmlns:a="http://schemas.openxmlformats.org/drawingml/2006/main">
              <a:ext uri="{FF2B5EF4-FFF2-40B4-BE49-F238E27FC236}">
                <a16:creationId xmlns:a16="http://schemas.microsoft.com/office/drawing/2014/main" id="{F8A3509A-228C-4F55-AA75-ACD49616CAB2}"/>
              </a:ext>
            </a:extLst>
          </p:cNvPr>
          <p:cNvSpPr>
            <a:spLocks xmlns:a="http://schemas.openxmlformats.org/drawingml/2006/main" noGrp="1"/>
          </p:cNvSpPr>
          <p:nvPr/>
        </p:nvSpPr>
        <p:spPr>
          <a:xfrm xmlns:a="http://schemas.openxmlformats.org/drawingml/2006/main">
            <a:off x="1905000" y="4791075"/>
            <a:ext cx="9191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682"/>
          </a:bodyPr>
          <a:lstStyle xmlns:a="http://schemas.openxmlformats.org/drawingml/2006/main"/>
          <a:p xmlns:a="http://schemas.openxmlformats.org/drawingml/2006/main">
            <a:pPr algn="l">
              <a:lnSpc>
                <a:spcPct val="108000"/>
              </a:lnSpc>
              <a:buNone/>
              <a:defRPr sz="1500" b="0">
                <a:solidFill>
                  <a:srgbClr val="132E35"/>
                </a:solidFill>
                <a:latin typeface="Helvetica Neue"/>
                <a:ea typeface="Helvetica Neue"/>
                <a:cs typeface="Helvetica Neue"/>
              </a:defRPr>
            </a:pPr>
            <a:r>
              <a:rPr sz="1500" b="0">
                <a:solidFill>
                  <a:srgbClr val="132E35"/>
                </a:solidFill>
                <a:latin typeface="Helvetica Neue"/>
                <a:ea typeface="Helvetica Neue"/>
                <a:cs typeface="Helvetica Neue"/>
              </a:rPr>
              <a:t>Medication, Condition, CarePlan, and DocumentReference statuses vary; preserve status and date meaning.</a:t>
            </a:r>
          </a:p>
        </p:txBody>
      </p:sp>
      <p:sp>
        <p:nvSpPr>
          <p:cNvPr id="21" name="">
            <a:extLst xmlns:a="http://schemas.openxmlformats.org/drawingml/2006/main">
              <a:ext uri="{FF2B5EF4-FFF2-40B4-BE49-F238E27FC236}">
                <a16:creationId xmlns:a16="http://schemas.microsoft.com/office/drawing/2014/main" id="{EB7FF851-5E95-433E-BDF9-465B481FC70E}"/>
              </a:ext>
            </a:extLst>
          </p:cNvPr>
          <p:cNvSpPr>
            <a:spLocks xmlns:a="http://schemas.openxmlformats.org/drawingml/2006/main" noGrp="1"/>
          </p:cNvSpPr>
          <p:nvPr/>
        </p:nvSpPr>
        <p:spPr>
          <a:xfrm xmlns:a="http://schemas.openxmlformats.org/drawingml/2006/main">
            <a:off x="685800" y="5410200"/>
            <a:ext cx="1083945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22" name="">
            <a:extLst xmlns:a="http://schemas.openxmlformats.org/drawingml/2006/main">
              <a:ext uri="{FF2B5EF4-FFF2-40B4-BE49-F238E27FC236}">
                <a16:creationId xmlns:a16="http://schemas.microsoft.com/office/drawing/2014/main" id="{D5FBF24F-7DC9-4A4B-AE60-767EE82082D7}"/>
              </a:ext>
            </a:extLst>
          </p:cNvPr>
          <p:cNvSpPr>
            <a:spLocks xmlns:a="http://schemas.openxmlformats.org/drawingml/2006/main" noGrp="1"/>
          </p:cNvSpPr>
          <p:nvPr/>
        </p:nvSpPr>
        <p:spPr>
          <a:xfrm xmlns:a="http://schemas.openxmlformats.org/drawingml/2006/main">
            <a:off x="685800" y="5676900"/>
            <a:ext cx="1104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167C80"/>
                </a:solidFill>
                <a:latin typeface="Helvetica Neue"/>
                <a:ea typeface="Helvetica Neue"/>
                <a:cs typeface="Helvetica Neue"/>
              </a:defRPr>
            </a:pPr>
            <a:r>
              <a:rPr sz="1350" b="1">
                <a:solidFill>
                  <a:srgbClr val="167C80"/>
                </a:solidFill>
                <a:latin typeface="Helvetica Neue"/>
                <a:ea typeface="Helvetica Neue"/>
                <a:cs typeface="Helvetica Neue"/>
              </a:rPr>
              <a:t>Absence</a:t>
            </a:r>
          </a:p>
        </p:txBody>
      </p:sp>
      <p:sp>
        <p:nvSpPr>
          <p:cNvPr id="23" name="">
            <a:extLst xmlns:a="http://schemas.openxmlformats.org/drawingml/2006/main">
              <a:ext uri="{FF2B5EF4-FFF2-40B4-BE49-F238E27FC236}">
                <a16:creationId xmlns:a16="http://schemas.microsoft.com/office/drawing/2014/main" id="{3F48F57D-189E-4375-B86E-3542284A8726}"/>
              </a:ext>
            </a:extLst>
          </p:cNvPr>
          <p:cNvSpPr>
            <a:spLocks xmlns:a="http://schemas.openxmlformats.org/drawingml/2006/main" noGrp="1"/>
          </p:cNvSpPr>
          <p:nvPr/>
        </p:nvSpPr>
        <p:spPr>
          <a:xfrm xmlns:a="http://schemas.openxmlformats.org/drawingml/2006/main">
            <a:off x="1905000" y="5648325"/>
            <a:ext cx="9191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132E35"/>
                </a:solidFill>
                <a:latin typeface="Helvetica Neue"/>
                <a:ea typeface="Helvetica Neue"/>
                <a:cs typeface="Helvetica Neue"/>
              </a:defRPr>
            </a:pPr>
            <a:r>
              <a:rPr sz="1500" b="0">
                <a:solidFill>
                  <a:srgbClr val="132E35"/>
                </a:solidFill>
                <a:latin typeface="Helvetica Neue"/>
                <a:ea typeface="Helvetica Neue"/>
                <a:cs typeface="Helvetica Neue"/>
              </a:rPr>
              <a:t>A missing AllergyIntolerance resource means “not recorded,” not “no allergies.”</a:t>
            </a:r>
          </a:p>
        </p:txBody>
      </p:sp>
    </p:spTree>
    <p:extLst>
      <p:ext uri="{BB962C8B-B14F-4D97-AF65-F5344CB8AC3E}">
        <p14:creationId xmlns:p14="http://schemas.microsoft.com/office/powerpoint/2010/main" val="418181537"/>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53EE435-A048-4DE9-AB05-00ABF16B67A8}"/>
              </a:ext>
            </a:extLst>
          </p:cNvPr>
          <p:cNvSpPr>
            <a:spLocks xmlns:a="http://schemas.openxmlformats.org/drawingml/2006/main" noGrp="1"/>
          </p:cNvSpPr>
          <p:nvPr/>
        </p:nvSpPr>
        <p:spPr>
          <a:xfrm xmlns:a="http://schemas.openxmlformats.org/drawingml/2006/main">
            <a:off x="647700" y="400050"/>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132E35"/>
                </a:solidFill>
                <a:latin typeface="Helvetica Neue"/>
                <a:ea typeface="Helvetica Neue"/>
                <a:cs typeface="Helvetica Neue"/>
              </a:defRPr>
            </a:pPr>
            <a:r>
              <a:rPr sz="3150" b="1">
                <a:solidFill>
                  <a:srgbClr val="132E35"/>
                </a:solidFill>
                <a:latin typeface="Helvetica Neue"/>
                <a:ea typeface="Helvetica Neue"/>
                <a:cs typeface="Helvetica Neue"/>
              </a:rPr>
              <a:t>Pipeline and evaluation loop</a:t>
            </a:r>
          </a:p>
        </p:txBody>
      </p:sp>
      <p:sp>
        <p:nvSpPr>
          <p:cNvPr id="2" name="">
            <a:extLst xmlns:a="http://schemas.openxmlformats.org/drawingml/2006/main">
              <a:ext uri="{FF2B5EF4-FFF2-40B4-BE49-F238E27FC236}">
                <a16:creationId xmlns:a16="http://schemas.microsoft.com/office/drawing/2014/main" id="{2202C2D5-709A-4DB8-8B65-967BEA073CB4}"/>
              </a:ext>
            </a:extLst>
          </p:cNvPr>
          <p:cNvSpPr>
            <a:spLocks xmlns:a="http://schemas.openxmlformats.org/drawingml/2006/main" noGrp="1"/>
          </p:cNvSpPr>
          <p:nvPr/>
        </p:nvSpPr>
        <p:spPr>
          <a:xfrm xmlns:a="http://schemas.openxmlformats.org/drawingml/2006/main">
            <a:off x="66675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2676B"/>
                </a:solidFill>
                <a:latin typeface="Helvetica Neue"/>
                <a:ea typeface="Helvetica Neue"/>
                <a:cs typeface="Helvetica Neue"/>
              </a:defRPr>
            </a:pPr>
            <a:r>
              <a:rPr sz="1575" b="0">
                <a:solidFill>
                  <a:srgbClr val="52676B"/>
                </a:solidFill>
                <a:latin typeface="Helvetica Neue"/>
                <a:ea typeface="Helvetica Neue"/>
                <a:cs typeface="Helvetica Neue"/>
              </a:rPr>
              <a:t>The same fixed questions measure each context-generation version</a:t>
            </a:r>
          </a:p>
        </p:txBody>
      </p:sp>
      <p:sp>
        <p:nvSpPr>
          <p:cNvPr id="3" name="">
            <a:extLst xmlns:a="http://schemas.openxmlformats.org/drawingml/2006/main">
              <a:ext uri="{FF2B5EF4-FFF2-40B4-BE49-F238E27FC236}">
                <a16:creationId xmlns:a16="http://schemas.microsoft.com/office/drawing/2014/main" id="{7257AACF-7921-418A-8A51-2AD4D32DC49C}"/>
              </a:ext>
            </a:extLst>
          </p:cNvPr>
          <p:cNvSpPr>
            <a:spLocks xmlns:a="http://schemas.openxmlformats.org/drawingml/2006/main" noGrp="1"/>
          </p:cNvSpPr>
          <p:nvPr/>
        </p:nvSpPr>
        <p:spPr>
          <a:xfrm xmlns:a="http://schemas.openxmlformats.org/drawingml/2006/main">
            <a:off x="647700" y="6429375"/>
            <a:ext cx="108966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4" name="">
            <a:extLst xmlns:a="http://schemas.openxmlformats.org/drawingml/2006/main">
              <a:ext uri="{FF2B5EF4-FFF2-40B4-BE49-F238E27FC236}">
                <a16:creationId xmlns:a16="http://schemas.microsoft.com/office/drawing/2014/main" id="{1C96733A-6128-4650-BAEA-BE14B68765EA}"/>
              </a:ext>
            </a:extLst>
          </p:cNvPr>
          <p:cNvSpPr>
            <a:spLocks xmlns:a="http://schemas.openxmlformats.org/drawingml/2006/main" noGrp="1"/>
          </p:cNvSpPr>
          <p:nvPr/>
        </p:nvSpPr>
        <p:spPr>
          <a:xfrm xmlns:a="http://schemas.openxmlformats.org/drawingml/2006/main">
            <a:off x="647700" y="6534150"/>
            <a:ext cx="7239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52676B"/>
                </a:solidFill>
                <a:latin typeface="Helvetica Neue"/>
                <a:ea typeface="Helvetica Neue"/>
                <a:cs typeface="Helvetica Neue"/>
              </a:defRPr>
            </a:pPr>
            <a:r>
              <a:rPr sz="900" b="1">
                <a:solidFill>
                  <a:srgbClr val="52676B"/>
                </a:solidFill>
                <a:latin typeface="Helvetica Neue"/>
                <a:ea typeface="Helvetica Neue"/>
                <a:cs typeface="Helvetica Neue"/>
              </a:rPr>
              <a:t>SYNTHETIC HIE  /  CONTEXT + EVALUATION</a:t>
            </a:r>
          </a:p>
        </p:txBody>
      </p:sp>
      <p:sp>
        <p:nvSpPr>
          <p:cNvPr id="5" name="">
            <a:extLst xmlns:a="http://schemas.openxmlformats.org/drawingml/2006/main">
              <a:ext uri="{FF2B5EF4-FFF2-40B4-BE49-F238E27FC236}">
                <a16:creationId xmlns:a16="http://schemas.microsoft.com/office/drawing/2014/main" id="{6F2C00B6-5868-4B1F-96D0-2C8FF1405B0E}"/>
              </a:ext>
            </a:extLst>
          </p:cNvPr>
          <p:cNvSpPr>
            <a:spLocks xmlns:a="http://schemas.openxmlformats.org/drawingml/2006/main" noGrp="1"/>
          </p:cNvSpPr>
          <p:nvPr/>
        </p:nvSpPr>
        <p:spPr>
          <a:xfrm xmlns:a="http://schemas.openxmlformats.org/drawingml/2006/main">
            <a:off x="11049000" y="65151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a:solidFill>
                  <a:srgbClr val="52676B"/>
                </a:solidFill>
                <a:latin typeface="Helvetica Neue"/>
                <a:ea typeface="Helvetica Neue"/>
                <a:cs typeface="Helvetica Neue"/>
              </a:defRPr>
            </a:pPr>
            <a:r>
              <a:rPr sz="975" b="0">
                <a:solidFill>
                  <a:srgbClr val="52676B"/>
                </a:solidFill>
                <a:latin typeface="Helvetica Neue"/>
                <a:ea typeface="Helvetica Neue"/>
                <a:cs typeface="Helvetica Neue"/>
              </a:rPr>
              <a:t>03</a:t>
            </a:r>
          </a:p>
        </p:txBody>
      </p:sp>
      <p:sp>
        <p:nvSpPr>
          <p:cNvPr id="6" name="">
            <a:extLst xmlns:a="http://schemas.openxmlformats.org/drawingml/2006/main">
              <a:ext uri="{FF2B5EF4-FFF2-40B4-BE49-F238E27FC236}">
                <a16:creationId xmlns:a16="http://schemas.microsoft.com/office/drawing/2014/main" id="{7F6AA791-B769-4F52-92C9-7CAAE84BE9E4}"/>
              </a:ext>
            </a:extLst>
          </p:cNvPr>
          <p:cNvSpPr>
            <a:spLocks xmlns:a="http://schemas.openxmlformats.org/drawingml/2006/main" noGrp="1"/>
          </p:cNvSpPr>
          <p:nvPr/>
        </p:nvSpPr>
        <p:spPr>
          <a:xfrm xmlns:a="http://schemas.openxmlformats.org/drawingml/2006/main">
            <a:off x="552450" y="2238375"/>
            <a:ext cx="188595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14288">
            <a:solidFill>
              <a:srgbClr val="C8D5D2"/>
            </a:solidFill>
            <a:prstDash val="solid"/>
          </a:ln>
        </p:spPr>
      </p:sp>
      <p:sp>
        <p:nvSpPr>
          <p:cNvPr id="7" name="">
            <a:extLst xmlns:a="http://schemas.openxmlformats.org/drawingml/2006/main">
              <a:ext uri="{FF2B5EF4-FFF2-40B4-BE49-F238E27FC236}">
                <a16:creationId xmlns:a16="http://schemas.microsoft.com/office/drawing/2014/main" id="{881BC5D5-B956-4ED7-84C9-78026575B5FE}"/>
              </a:ext>
            </a:extLst>
          </p:cNvPr>
          <p:cNvSpPr>
            <a:spLocks xmlns:a="http://schemas.openxmlformats.org/drawingml/2006/main" noGrp="1"/>
          </p:cNvSpPr>
          <p:nvPr/>
        </p:nvSpPr>
        <p:spPr>
          <a:xfrm xmlns:a="http://schemas.openxmlformats.org/drawingml/2006/main">
            <a:off x="704850" y="2466975"/>
            <a:ext cx="158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75" b="1">
                <a:solidFill>
                  <a:srgbClr val="132E35"/>
                </a:solidFill>
                <a:latin typeface="Helvetica Neue"/>
                <a:ea typeface="Helvetica Neue"/>
                <a:cs typeface="Helvetica Neue"/>
              </a:defRPr>
            </a:pPr>
            <a:r>
              <a:rPr sz="1575" b="1">
                <a:solidFill>
                  <a:srgbClr val="132E35"/>
                </a:solidFill>
                <a:latin typeface="Helvetica Neue"/>
                <a:ea typeface="Helvetica Neue"/>
                <a:cs typeface="Helvetica Neue"/>
              </a:rPr>
              <a:t>HIE pulls</a:t>
            </a:r>
          </a:p>
        </p:txBody>
      </p:sp>
      <p:sp>
        <p:nvSpPr>
          <p:cNvPr id="8" name="">
            <a:extLst xmlns:a="http://schemas.openxmlformats.org/drawingml/2006/main">
              <a:ext uri="{FF2B5EF4-FFF2-40B4-BE49-F238E27FC236}">
                <a16:creationId xmlns:a16="http://schemas.microsoft.com/office/drawing/2014/main" id="{A06F7A71-E838-46F5-BF95-DC2AB1C4C585}"/>
              </a:ext>
            </a:extLst>
          </p:cNvPr>
          <p:cNvSpPr>
            <a:spLocks xmlns:a="http://schemas.openxmlformats.org/drawingml/2006/main" noGrp="1"/>
          </p:cNvSpPr>
          <p:nvPr/>
        </p:nvSpPr>
        <p:spPr>
          <a:xfrm xmlns:a="http://schemas.openxmlformats.org/drawingml/2006/main">
            <a:off x="676275" y="2876550"/>
            <a:ext cx="1638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FHIR Bundle</a:t>
            </a:r>
          </a:p>
          <a:p xmlns:a="http://schemas.openxmlformats.org/drawingml/2006/main">
            <a:pPr algn="ctr">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raw resources</a:t>
            </a:r>
          </a:p>
        </p:txBody>
      </p:sp>
      <p:sp>
        <p:nvSpPr>
          <p:cNvPr id="9" name="">
            <a:extLst xmlns:a="http://schemas.openxmlformats.org/drawingml/2006/main">
              <a:ext uri="{FF2B5EF4-FFF2-40B4-BE49-F238E27FC236}">
                <a16:creationId xmlns:a16="http://schemas.microsoft.com/office/drawing/2014/main" id="{7E10344A-FBE4-4D41-BB61-7674DB986F61}"/>
              </a:ext>
            </a:extLst>
          </p:cNvPr>
          <p:cNvSpPr>
            <a:spLocks xmlns:a="http://schemas.openxmlformats.org/drawingml/2006/main" noGrp="1"/>
          </p:cNvSpPr>
          <p:nvPr/>
        </p:nvSpPr>
        <p:spPr>
          <a:xfrm xmlns:a="http://schemas.openxmlformats.org/drawingml/2006/main">
            <a:off x="2838450" y="2238375"/>
            <a:ext cx="188595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14288">
            <a:solidFill>
              <a:srgbClr val="C8D5D2"/>
            </a:solidFill>
            <a:prstDash val="solid"/>
          </a:ln>
        </p:spPr>
      </p:sp>
      <p:sp>
        <p:nvSpPr>
          <p:cNvPr id="10" name="">
            <a:extLst xmlns:a="http://schemas.openxmlformats.org/drawingml/2006/main">
              <a:ext uri="{FF2B5EF4-FFF2-40B4-BE49-F238E27FC236}">
                <a16:creationId xmlns:a16="http://schemas.microsoft.com/office/drawing/2014/main" id="{AE1758B0-9908-4E48-846F-8AEB66EBB2A2}"/>
              </a:ext>
            </a:extLst>
          </p:cNvPr>
          <p:cNvSpPr>
            <a:spLocks xmlns:a="http://schemas.openxmlformats.org/drawingml/2006/main" noGrp="1"/>
          </p:cNvSpPr>
          <p:nvPr/>
        </p:nvSpPr>
        <p:spPr>
          <a:xfrm xmlns:a="http://schemas.openxmlformats.org/drawingml/2006/main">
            <a:off x="2990850" y="2466975"/>
            <a:ext cx="158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75" b="1">
                <a:solidFill>
                  <a:srgbClr val="132E35"/>
                </a:solidFill>
                <a:latin typeface="Helvetica Neue"/>
                <a:ea typeface="Helvetica Neue"/>
                <a:cs typeface="Helvetica Neue"/>
              </a:defRPr>
            </a:pPr>
            <a:r>
              <a:rPr sz="1575" b="1">
                <a:solidFill>
                  <a:srgbClr val="132E35"/>
                </a:solidFill>
                <a:latin typeface="Helvetica Neue"/>
                <a:ea typeface="Helvetica Neue"/>
                <a:cs typeface="Helvetica Neue"/>
              </a:rPr>
              <a:t>Normalize</a:t>
            </a:r>
          </a:p>
        </p:txBody>
      </p:sp>
      <p:sp>
        <p:nvSpPr>
          <p:cNvPr id="11" name="">
            <a:extLst xmlns:a="http://schemas.openxmlformats.org/drawingml/2006/main">
              <a:ext uri="{FF2B5EF4-FFF2-40B4-BE49-F238E27FC236}">
                <a16:creationId xmlns:a16="http://schemas.microsoft.com/office/drawing/2014/main" id="{6B625EAC-564F-4E8B-B272-44F2A901C357}"/>
              </a:ext>
            </a:extLst>
          </p:cNvPr>
          <p:cNvSpPr>
            <a:spLocks xmlns:a="http://schemas.openxmlformats.org/drawingml/2006/main" noGrp="1"/>
          </p:cNvSpPr>
          <p:nvPr/>
        </p:nvSpPr>
        <p:spPr>
          <a:xfrm xmlns:a="http://schemas.openxmlformats.org/drawingml/2006/main">
            <a:off x="2962275" y="2876550"/>
            <a:ext cx="1638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Facts + status</a:t>
            </a:r>
          </a:p>
          <a:p xmlns:a="http://schemas.openxmlformats.org/drawingml/2006/main">
            <a:pPr algn="ctr">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dates + source IDs</a:t>
            </a:r>
          </a:p>
        </p:txBody>
      </p:sp>
      <p:sp>
        <p:nvSpPr>
          <p:cNvPr id="12" name="">
            <a:extLst xmlns:a="http://schemas.openxmlformats.org/drawingml/2006/main">
              <a:ext uri="{FF2B5EF4-FFF2-40B4-BE49-F238E27FC236}">
                <a16:creationId xmlns:a16="http://schemas.microsoft.com/office/drawing/2014/main" id="{BDF54826-0144-422D-B5EE-EA3293F8C734}"/>
              </a:ext>
            </a:extLst>
          </p:cNvPr>
          <p:cNvSpPr>
            <a:spLocks xmlns:a="http://schemas.openxmlformats.org/drawingml/2006/main" noGrp="1"/>
          </p:cNvSpPr>
          <p:nvPr/>
        </p:nvSpPr>
        <p:spPr>
          <a:xfrm xmlns:a="http://schemas.openxmlformats.org/drawingml/2006/main">
            <a:off x="5124450" y="2238375"/>
            <a:ext cx="1885950" cy="1428750"/>
          </a:xfrm>
          <a:prstGeom xmlns:a="http://schemas.openxmlformats.org/drawingml/2006/main" prst="roundRect">
            <a:avLst>
              <a:gd name="adj" fmla="val 9333"/>
            </a:avLst>
          </a:prstGeom>
          <a:solidFill xmlns:a="http://schemas.openxmlformats.org/drawingml/2006/main">
            <a:srgbClr val="DCEFEB"/>
          </a:solidFill>
          <a:ln xmlns:a="http://schemas.openxmlformats.org/drawingml/2006/main" w="14288">
            <a:solidFill>
              <a:srgbClr val="167C80"/>
            </a:solidFill>
            <a:prstDash val="solid"/>
          </a:ln>
        </p:spPr>
      </p:sp>
      <p:sp>
        <p:nvSpPr>
          <p:cNvPr id="13" name="">
            <a:extLst xmlns:a="http://schemas.openxmlformats.org/drawingml/2006/main">
              <a:ext uri="{FF2B5EF4-FFF2-40B4-BE49-F238E27FC236}">
                <a16:creationId xmlns:a16="http://schemas.microsoft.com/office/drawing/2014/main" id="{B734DD5D-B41D-42A6-BF3A-325F4ADA95E1}"/>
              </a:ext>
            </a:extLst>
          </p:cNvPr>
          <p:cNvSpPr>
            <a:spLocks xmlns:a="http://schemas.openxmlformats.org/drawingml/2006/main" noGrp="1"/>
          </p:cNvSpPr>
          <p:nvPr/>
        </p:nvSpPr>
        <p:spPr>
          <a:xfrm xmlns:a="http://schemas.openxmlformats.org/drawingml/2006/main">
            <a:off x="5276850" y="2466975"/>
            <a:ext cx="158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75" b="1">
                <a:solidFill>
                  <a:srgbClr val="132E35"/>
                </a:solidFill>
                <a:latin typeface="Helvetica Neue"/>
                <a:ea typeface="Helvetica Neue"/>
                <a:cs typeface="Helvetica Neue"/>
              </a:defRPr>
            </a:pPr>
            <a:r>
              <a:rPr sz="1575" b="1">
                <a:solidFill>
                  <a:srgbClr val="132E35"/>
                </a:solidFill>
                <a:latin typeface="Helvetica Neue"/>
                <a:ea typeface="Helvetica Neue"/>
                <a:cs typeface="Helvetica Neue"/>
              </a:rPr>
              <a:t>Build context</a:t>
            </a:r>
          </a:p>
        </p:txBody>
      </p:sp>
      <p:sp>
        <p:nvSpPr>
          <p:cNvPr id="14" name="">
            <a:extLst xmlns:a="http://schemas.openxmlformats.org/drawingml/2006/main">
              <a:ext uri="{FF2B5EF4-FFF2-40B4-BE49-F238E27FC236}">
                <a16:creationId xmlns:a16="http://schemas.microsoft.com/office/drawing/2014/main" id="{62FD89A2-D770-4413-84B2-7251ED057A93}"/>
              </a:ext>
            </a:extLst>
          </p:cNvPr>
          <p:cNvSpPr>
            <a:spLocks xmlns:a="http://schemas.openxmlformats.org/drawingml/2006/main" noGrp="1"/>
          </p:cNvSpPr>
          <p:nvPr/>
        </p:nvSpPr>
        <p:spPr>
          <a:xfrm xmlns:a="http://schemas.openxmlformats.org/drawingml/2006/main">
            <a:off x="5248275" y="2876550"/>
            <a:ext cx="1638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Priority selection</a:t>
            </a:r>
          </a:p>
          <a:p xmlns:a="http://schemas.openxmlformats.org/drawingml/2006/main">
            <a:pPr algn="ctr">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within token budget</a:t>
            </a:r>
          </a:p>
        </p:txBody>
      </p:sp>
      <p:sp>
        <p:nvSpPr>
          <p:cNvPr id="15" name="">
            <a:extLst xmlns:a="http://schemas.openxmlformats.org/drawingml/2006/main">
              <a:ext uri="{FF2B5EF4-FFF2-40B4-BE49-F238E27FC236}">
                <a16:creationId xmlns:a16="http://schemas.microsoft.com/office/drawing/2014/main" id="{6025EB3A-61D8-4D89-B6B1-57CAEBF7B1BC}"/>
              </a:ext>
            </a:extLst>
          </p:cNvPr>
          <p:cNvSpPr>
            <a:spLocks xmlns:a="http://schemas.openxmlformats.org/drawingml/2006/main" noGrp="1"/>
          </p:cNvSpPr>
          <p:nvPr/>
        </p:nvSpPr>
        <p:spPr>
          <a:xfrm xmlns:a="http://schemas.openxmlformats.org/drawingml/2006/main">
            <a:off x="7410450" y="2238375"/>
            <a:ext cx="1885950" cy="1428750"/>
          </a:xfrm>
          <a:prstGeom xmlns:a="http://schemas.openxmlformats.org/drawingml/2006/main" prst="roundRect">
            <a:avLst>
              <a:gd name="adj" fmla="val 9333"/>
            </a:avLst>
          </a:prstGeom>
          <a:solidFill xmlns:a="http://schemas.openxmlformats.org/drawingml/2006/main">
            <a:srgbClr val="FFFFFF"/>
          </a:solidFill>
          <a:ln xmlns:a="http://schemas.openxmlformats.org/drawingml/2006/main" w="14288">
            <a:solidFill>
              <a:srgbClr val="C8D5D2"/>
            </a:solidFill>
            <a:prstDash val="solid"/>
          </a:ln>
        </p:spPr>
      </p:sp>
      <p:sp>
        <p:nvSpPr>
          <p:cNvPr id="16" name="">
            <a:extLst xmlns:a="http://schemas.openxmlformats.org/drawingml/2006/main">
              <a:ext uri="{FF2B5EF4-FFF2-40B4-BE49-F238E27FC236}">
                <a16:creationId xmlns:a16="http://schemas.microsoft.com/office/drawing/2014/main" id="{C7E61888-9394-4E66-82D2-089C27260DCC}"/>
              </a:ext>
            </a:extLst>
          </p:cNvPr>
          <p:cNvSpPr>
            <a:spLocks xmlns:a="http://schemas.openxmlformats.org/drawingml/2006/main" noGrp="1"/>
          </p:cNvSpPr>
          <p:nvPr/>
        </p:nvSpPr>
        <p:spPr>
          <a:xfrm xmlns:a="http://schemas.openxmlformats.org/drawingml/2006/main">
            <a:off x="7562850" y="2466975"/>
            <a:ext cx="158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75" b="1">
                <a:solidFill>
                  <a:srgbClr val="132E35"/>
                </a:solidFill>
                <a:latin typeface="Helvetica Neue"/>
                <a:ea typeface="Helvetica Neue"/>
                <a:cs typeface="Helvetica Neue"/>
              </a:defRPr>
            </a:pPr>
            <a:r>
              <a:rPr sz="1575" b="1">
                <a:solidFill>
                  <a:srgbClr val="132E35"/>
                </a:solidFill>
                <a:latin typeface="Helvetica Neue"/>
                <a:ea typeface="Helvetica Neue"/>
                <a:cs typeface="Helvetica Neue"/>
              </a:rPr>
              <a:t>Chat + retrieve</a:t>
            </a:r>
          </a:p>
        </p:txBody>
      </p:sp>
      <p:sp>
        <p:nvSpPr>
          <p:cNvPr id="17" name="">
            <a:extLst xmlns:a="http://schemas.openxmlformats.org/drawingml/2006/main">
              <a:ext uri="{FF2B5EF4-FFF2-40B4-BE49-F238E27FC236}">
                <a16:creationId xmlns:a16="http://schemas.microsoft.com/office/drawing/2014/main" id="{86681DE2-CBBB-4872-B996-CDB585552CA8}"/>
              </a:ext>
            </a:extLst>
          </p:cNvPr>
          <p:cNvSpPr>
            <a:spLocks xmlns:a="http://schemas.openxmlformats.org/drawingml/2006/main" noGrp="1"/>
          </p:cNvSpPr>
          <p:nvPr/>
        </p:nvSpPr>
        <p:spPr>
          <a:xfrm xmlns:a="http://schemas.openxmlformats.org/drawingml/2006/main">
            <a:off x="7534275" y="2876550"/>
            <a:ext cx="1638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632"/>
          </a:bodyPr>
          <a:lstStyle xmlns:a="http://schemas.openxmlformats.org/drawingml/2006/main"/>
          <a:p xmlns:a="http://schemas.openxmlformats.org/drawingml/2006/main">
            <a:pPr algn="ctr">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Fixed question</a:t>
            </a:r>
          </a:p>
          <a:p xmlns:a="http://schemas.openxmlformats.org/drawingml/2006/main">
            <a:pPr algn="ctr">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context + omitted facts</a:t>
            </a:r>
          </a:p>
        </p:txBody>
      </p:sp>
      <p:sp>
        <p:nvSpPr>
          <p:cNvPr id="18" name="">
            <a:extLst xmlns:a="http://schemas.openxmlformats.org/drawingml/2006/main">
              <a:ext uri="{FF2B5EF4-FFF2-40B4-BE49-F238E27FC236}">
                <a16:creationId xmlns:a16="http://schemas.microsoft.com/office/drawing/2014/main" id="{D042253A-93D6-4D0C-97A5-EEE5FC37626C}"/>
              </a:ext>
            </a:extLst>
          </p:cNvPr>
          <p:cNvSpPr>
            <a:spLocks xmlns:a="http://schemas.openxmlformats.org/drawingml/2006/main" noGrp="1"/>
          </p:cNvSpPr>
          <p:nvPr/>
        </p:nvSpPr>
        <p:spPr>
          <a:xfrm xmlns:a="http://schemas.openxmlformats.org/drawingml/2006/main">
            <a:off x="9696450" y="2238375"/>
            <a:ext cx="1885950" cy="1428750"/>
          </a:xfrm>
          <a:prstGeom xmlns:a="http://schemas.openxmlformats.org/drawingml/2006/main" prst="roundRect">
            <a:avLst>
              <a:gd name="adj" fmla="val 9333"/>
            </a:avLst>
          </a:prstGeom>
          <a:solidFill xmlns:a="http://schemas.openxmlformats.org/drawingml/2006/main">
            <a:srgbClr val="F5E7DB"/>
          </a:solidFill>
          <a:ln xmlns:a="http://schemas.openxmlformats.org/drawingml/2006/main" w="14288">
            <a:solidFill>
              <a:srgbClr val="C8D5D2"/>
            </a:solidFill>
            <a:prstDash val="solid"/>
          </a:ln>
        </p:spPr>
      </p:sp>
      <p:sp>
        <p:nvSpPr>
          <p:cNvPr id="19" name="">
            <a:extLst xmlns:a="http://schemas.openxmlformats.org/drawingml/2006/main">
              <a:ext uri="{FF2B5EF4-FFF2-40B4-BE49-F238E27FC236}">
                <a16:creationId xmlns:a16="http://schemas.microsoft.com/office/drawing/2014/main" id="{EB0B4EDD-DD28-48F1-A804-7460FECF5CF6}"/>
              </a:ext>
            </a:extLst>
          </p:cNvPr>
          <p:cNvSpPr>
            <a:spLocks xmlns:a="http://schemas.openxmlformats.org/drawingml/2006/main" noGrp="1"/>
          </p:cNvSpPr>
          <p:nvPr/>
        </p:nvSpPr>
        <p:spPr>
          <a:xfrm xmlns:a="http://schemas.openxmlformats.org/drawingml/2006/main">
            <a:off x="9848850" y="2466975"/>
            <a:ext cx="158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75" b="1">
                <a:solidFill>
                  <a:srgbClr val="132E35"/>
                </a:solidFill>
                <a:latin typeface="Helvetica Neue"/>
                <a:ea typeface="Helvetica Neue"/>
                <a:cs typeface="Helvetica Neue"/>
              </a:defRPr>
            </a:pPr>
            <a:r>
              <a:rPr sz="1575" b="1">
                <a:solidFill>
                  <a:srgbClr val="132E35"/>
                </a:solidFill>
                <a:latin typeface="Helvetica Neue"/>
                <a:ea typeface="Helvetica Neue"/>
                <a:cs typeface="Helvetica Neue"/>
              </a:rPr>
              <a:t>Evaluate</a:t>
            </a:r>
          </a:p>
        </p:txBody>
      </p:sp>
      <p:sp>
        <p:nvSpPr>
          <p:cNvPr id="20" name="">
            <a:extLst xmlns:a="http://schemas.openxmlformats.org/drawingml/2006/main">
              <a:ext uri="{FF2B5EF4-FFF2-40B4-BE49-F238E27FC236}">
                <a16:creationId xmlns:a16="http://schemas.microsoft.com/office/drawing/2014/main" id="{C2202FC1-8744-4E7C-AB2B-369A9DF7D9D3}"/>
              </a:ext>
            </a:extLst>
          </p:cNvPr>
          <p:cNvSpPr>
            <a:spLocks xmlns:a="http://schemas.openxmlformats.org/drawingml/2006/main" noGrp="1"/>
          </p:cNvSpPr>
          <p:nvPr/>
        </p:nvSpPr>
        <p:spPr>
          <a:xfrm xmlns:a="http://schemas.openxmlformats.org/drawingml/2006/main">
            <a:off x="9820275" y="2876550"/>
            <a:ext cx="16383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Known answer</a:t>
            </a:r>
          </a:p>
          <a:p xmlns:a="http://schemas.openxmlformats.org/drawingml/2006/main">
            <a:pPr algn="ctr">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source + budget</a:t>
            </a:r>
          </a:p>
        </p:txBody>
      </p:sp>
      <p:cxnSp>
        <p:nvCxnSpPr>
          <p:cNvPr id="47" name=""/>
          <p:cNvCxnSpPr>
            <a:stCxn xmlns:a="http://schemas.openxmlformats.org/drawingml/2006/main" id="6" idx="3"/>
            <a:endCxn xmlns:a="http://schemas.openxmlformats.org/drawingml/2006/main" id="9" idx="1"/>
          </p:cNvCxnSpPr>
          <p:nvPr/>
        </p:nvCxnSpPr>
        <p:spPr>
          <a:xfrm xmlns:a="http://schemas.openxmlformats.org/drawingml/2006/main">
            <a:off x="2438400" y="2952750"/>
            <a:ext cx="400050" cy="0"/>
          </a:xfrm>
          <a:prstGeom xmlns:a="http://schemas.openxmlformats.org/drawingml/2006/main" prst="straightConnector1">
            <a:avLst/>
          </a:prstGeom>
          <a:ln xmlns:a="http://schemas.openxmlformats.org/drawingml/2006/main" w="19050">
            <a:solidFill>
              <a:srgbClr val="167C80"/>
            </a:solidFill>
            <a:prstDash val="solid"/>
            <a:tailEnd type="arrow" w="med" len="med"/>
          </a:ln>
        </p:spPr>
      </p:cxnSp>
      <p:cxnSp>
        <p:nvCxnSpPr>
          <p:cNvPr id="48" name=""/>
          <p:cNvCxnSpPr>
            <a:stCxn xmlns:a="http://schemas.openxmlformats.org/drawingml/2006/main" id="9" idx="3"/>
            <a:endCxn xmlns:a="http://schemas.openxmlformats.org/drawingml/2006/main" id="12" idx="1"/>
          </p:cNvCxnSpPr>
          <p:nvPr/>
        </p:nvCxnSpPr>
        <p:spPr>
          <a:xfrm xmlns:a="http://schemas.openxmlformats.org/drawingml/2006/main">
            <a:off x="4724400" y="2952750"/>
            <a:ext cx="400050" cy="0"/>
          </a:xfrm>
          <a:prstGeom xmlns:a="http://schemas.openxmlformats.org/drawingml/2006/main" prst="straightConnector1">
            <a:avLst/>
          </a:prstGeom>
          <a:ln xmlns:a="http://schemas.openxmlformats.org/drawingml/2006/main" w="19050">
            <a:solidFill>
              <a:srgbClr val="167C80"/>
            </a:solidFill>
            <a:prstDash val="solid"/>
            <a:tailEnd type="arrow" w="med" len="med"/>
          </a:ln>
        </p:spPr>
      </p:cxnSp>
      <p:cxnSp>
        <p:nvCxnSpPr>
          <p:cNvPr id="49" name=""/>
          <p:cNvCxnSpPr>
            <a:stCxn xmlns:a="http://schemas.openxmlformats.org/drawingml/2006/main" id="12" idx="3"/>
            <a:endCxn xmlns:a="http://schemas.openxmlformats.org/drawingml/2006/main" id="15" idx="1"/>
          </p:cNvCxnSpPr>
          <p:nvPr/>
        </p:nvCxnSpPr>
        <p:spPr>
          <a:xfrm xmlns:a="http://schemas.openxmlformats.org/drawingml/2006/main">
            <a:off x="7010400" y="2952750"/>
            <a:ext cx="400050" cy="0"/>
          </a:xfrm>
          <a:prstGeom xmlns:a="http://schemas.openxmlformats.org/drawingml/2006/main" prst="straightConnector1">
            <a:avLst/>
          </a:prstGeom>
          <a:ln xmlns:a="http://schemas.openxmlformats.org/drawingml/2006/main" w="19050">
            <a:solidFill>
              <a:srgbClr val="167C80"/>
            </a:solidFill>
            <a:prstDash val="solid"/>
            <a:tailEnd type="arrow" w="med" len="med"/>
          </a:ln>
        </p:spPr>
      </p:cxnSp>
      <p:cxnSp>
        <p:nvCxnSpPr>
          <p:cNvPr id="50" name=""/>
          <p:cNvCxnSpPr>
            <a:stCxn xmlns:a="http://schemas.openxmlformats.org/drawingml/2006/main" id="15" idx="3"/>
            <a:endCxn xmlns:a="http://schemas.openxmlformats.org/drawingml/2006/main" id="18" idx="1"/>
          </p:cNvCxnSpPr>
          <p:nvPr/>
        </p:nvCxnSpPr>
        <p:spPr>
          <a:xfrm xmlns:a="http://schemas.openxmlformats.org/drawingml/2006/main">
            <a:off x="9296400" y="2952750"/>
            <a:ext cx="400050" cy="0"/>
          </a:xfrm>
          <a:prstGeom xmlns:a="http://schemas.openxmlformats.org/drawingml/2006/main" prst="straightConnector1">
            <a:avLst/>
          </a:prstGeom>
          <a:ln xmlns:a="http://schemas.openxmlformats.org/drawingml/2006/main" w="19050">
            <a:solidFill>
              <a:srgbClr val="167C80"/>
            </a:solidFill>
            <a:prstDash val="solid"/>
            <a:tailEnd type="arrow" w="med" len="med"/>
          </a:ln>
        </p:spPr>
      </p:cxnSp>
      <p:sp>
        <p:nvSpPr>
          <p:cNvPr id="25" name="">
            <a:extLst xmlns:a="http://schemas.openxmlformats.org/drawingml/2006/main">
              <a:ext uri="{FF2B5EF4-FFF2-40B4-BE49-F238E27FC236}">
                <a16:creationId xmlns:a16="http://schemas.microsoft.com/office/drawing/2014/main" id="{0468F850-4604-44AA-BE32-FE0B4C8DCCD2}"/>
              </a:ext>
            </a:extLst>
          </p:cNvPr>
          <p:cNvSpPr>
            <a:spLocks xmlns:a="http://schemas.openxmlformats.org/drawingml/2006/main" noGrp="1"/>
          </p:cNvSpPr>
          <p:nvPr/>
        </p:nvSpPr>
        <p:spPr>
          <a:xfrm xmlns:a="http://schemas.openxmlformats.org/drawingml/2006/main">
            <a:off x="2400300" y="405765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500" b="0">
                <a:solidFill>
                  <a:srgbClr val="52676B"/>
                </a:solidFill>
                <a:latin typeface="Helvetica Neue"/>
                <a:ea typeface="Helvetica Neue"/>
                <a:cs typeface="Helvetica Neue"/>
              </a:defRPr>
            </a:pPr>
            <a:r>
              <a:rPr sz="1500" b="0">
                <a:solidFill>
                  <a:srgbClr val="52676B"/>
                </a:solidFill>
                <a:latin typeface="Helvetica Neue"/>
                <a:ea typeface="Helvetica Neue"/>
                <a:cs typeface="Helvetica Neue"/>
              </a:rPr>
              <a:t>Retrieval supplies source-grounded facts that the compact context leaves out.</a:t>
            </a:r>
          </a:p>
        </p:txBody>
      </p:sp>
      <p:sp>
        <p:nvSpPr>
          <p:cNvPr id="26" name="">
            <a:extLst xmlns:a="http://schemas.openxmlformats.org/drawingml/2006/main">
              <a:ext uri="{FF2B5EF4-FFF2-40B4-BE49-F238E27FC236}">
                <a16:creationId xmlns:a16="http://schemas.microsoft.com/office/drawing/2014/main" id="{0257AFFC-9F62-4914-86BB-7976D0787D70}"/>
              </a:ext>
            </a:extLst>
          </p:cNvPr>
          <p:cNvSpPr>
            <a:spLocks xmlns:a="http://schemas.openxmlformats.org/drawingml/2006/main" noGrp="1"/>
          </p:cNvSpPr>
          <p:nvPr/>
        </p:nvSpPr>
        <p:spPr>
          <a:xfrm xmlns:a="http://schemas.openxmlformats.org/drawingml/2006/main">
            <a:off x="1905000" y="4857750"/>
            <a:ext cx="838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8000"/>
              </a:lnSpc>
              <a:buNone/>
              <a:defRPr sz="1425" b="1">
                <a:solidFill>
                  <a:srgbClr val="C56A3B"/>
                </a:solidFill>
                <a:latin typeface="Helvetica Neue"/>
                <a:ea typeface="Helvetica Neue"/>
                <a:cs typeface="Helvetica Neue"/>
              </a:defRPr>
            </a:pPr>
            <a:r>
              <a:rPr sz="1425" b="1">
                <a:solidFill>
                  <a:srgbClr val="C56A3B"/>
                </a:solidFill>
                <a:latin typeface="Helvetica Neue"/>
                <a:ea typeface="Helvetica Neue"/>
                <a:cs typeface="Helvetica Neue"/>
              </a:rPr>
              <a:t>After each context rule change, rerun the same questions and compare scores and evidence.</a:t>
            </a:r>
          </a:p>
        </p:txBody>
      </p:sp>
    </p:spTree>
    <p:extLst>
      <p:ext uri="{BB962C8B-B14F-4D97-AF65-F5344CB8AC3E}">
        <p14:creationId xmlns:p14="http://schemas.microsoft.com/office/powerpoint/2010/main" val="1680076583"/>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F929DE-171E-4394-90C8-73234E48A29B}"/>
              </a:ext>
            </a:extLst>
          </p:cNvPr>
          <p:cNvSpPr>
            <a:spLocks xmlns:a="http://schemas.openxmlformats.org/drawingml/2006/main" noGrp="1"/>
          </p:cNvSpPr>
          <p:nvPr/>
        </p:nvSpPr>
        <p:spPr>
          <a:xfrm xmlns:a="http://schemas.openxmlformats.org/drawingml/2006/main">
            <a:off x="647700" y="400050"/>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132E35"/>
                </a:solidFill>
                <a:latin typeface="Helvetica Neue"/>
                <a:ea typeface="Helvetica Neue"/>
                <a:cs typeface="Helvetica Neue"/>
              </a:defRPr>
            </a:pPr>
            <a:r>
              <a:rPr sz="3150" b="1">
                <a:solidFill>
                  <a:srgbClr val="132E35"/>
                </a:solidFill>
                <a:latin typeface="Helvetica Neue"/>
                <a:ea typeface="Helvetica Neue"/>
                <a:cs typeface="Helvetica Neue"/>
              </a:rPr>
              <a:t>Context generation preserves meaning</a:t>
            </a:r>
          </a:p>
        </p:txBody>
      </p:sp>
      <p:sp>
        <p:nvSpPr>
          <p:cNvPr id="2" name="">
            <a:extLst xmlns:a="http://schemas.openxmlformats.org/drawingml/2006/main">
              <a:ext uri="{FF2B5EF4-FFF2-40B4-BE49-F238E27FC236}">
                <a16:creationId xmlns:a16="http://schemas.microsoft.com/office/drawing/2014/main" id="{8767D33A-222A-43A1-9F3B-FF44438B897A}"/>
              </a:ext>
            </a:extLst>
          </p:cNvPr>
          <p:cNvSpPr>
            <a:spLocks xmlns:a="http://schemas.openxmlformats.org/drawingml/2006/main" noGrp="1"/>
          </p:cNvSpPr>
          <p:nvPr/>
        </p:nvSpPr>
        <p:spPr>
          <a:xfrm xmlns:a="http://schemas.openxmlformats.org/drawingml/2006/main">
            <a:off x="66675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2676B"/>
                </a:solidFill>
                <a:latin typeface="Helvetica Neue"/>
                <a:ea typeface="Helvetica Neue"/>
                <a:cs typeface="Helvetica Neue"/>
              </a:defRPr>
            </a:pPr>
            <a:r>
              <a:rPr sz="1575" b="0">
                <a:solidFill>
                  <a:srgbClr val="52676B"/>
                </a:solidFill>
                <a:latin typeface="Helvetica Neue"/>
                <a:ea typeface="Helvetica Neue"/>
                <a:cs typeface="Helvetica Neue"/>
              </a:rPr>
              <a:t>Choose facts by clinical meaning and source fidelity</a:t>
            </a:r>
          </a:p>
        </p:txBody>
      </p:sp>
      <p:sp>
        <p:nvSpPr>
          <p:cNvPr id="3" name="">
            <a:extLst xmlns:a="http://schemas.openxmlformats.org/drawingml/2006/main">
              <a:ext uri="{FF2B5EF4-FFF2-40B4-BE49-F238E27FC236}">
                <a16:creationId xmlns:a16="http://schemas.microsoft.com/office/drawing/2014/main" id="{CD5BA612-D68C-45FC-921D-3C15EBE8A6D5}"/>
              </a:ext>
            </a:extLst>
          </p:cNvPr>
          <p:cNvSpPr>
            <a:spLocks xmlns:a="http://schemas.openxmlformats.org/drawingml/2006/main" noGrp="1"/>
          </p:cNvSpPr>
          <p:nvPr/>
        </p:nvSpPr>
        <p:spPr>
          <a:xfrm xmlns:a="http://schemas.openxmlformats.org/drawingml/2006/main">
            <a:off x="647700" y="6429375"/>
            <a:ext cx="108966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4" name="">
            <a:extLst xmlns:a="http://schemas.openxmlformats.org/drawingml/2006/main">
              <a:ext uri="{FF2B5EF4-FFF2-40B4-BE49-F238E27FC236}">
                <a16:creationId xmlns:a16="http://schemas.microsoft.com/office/drawing/2014/main" id="{FAC50EF8-6EA2-41D3-86A3-1C24A6FE7981}"/>
              </a:ext>
            </a:extLst>
          </p:cNvPr>
          <p:cNvSpPr>
            <a:spLocks xmlns:a="http://schemas.openxmlformats.org/drawingml/2006/main" noGrp="1"/>
          </p:cNvSpPr>
          <p:nvPr/>
        </p:nvSpPr>
        <p:spPr>
          <a:xfrm xmlns:a="http://schemas.openxmlformats.org/drawingml/2006/main">
            <a:off x="647700" y="6534150"/>
            <a:ext cx="7239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52676B"/>
                </a:solidFill>
                <a:latin typeface="Helvetica Neue"/>
                <a:ea typeface="Helvetica Neue"/>
                <a:cs typeface="Helvetica Neue"/>
              </a:defRPr>
            </a:pPr>
            <a:r>
              <a:rPr sz="900" b="1">
                <a:solidFill>
                  <a:srgbClr val="52676B"/>
                </a:solidFill>
                <a:latin typeface="Helvetica Neue"/>
                <a:ea typeface="Helvetica Neue"/>
                <a:cs typeface="Helvetica Neue"/>
              </a:rPr>
              <a:t>SYNTHETIC HIE  /  CONTEXT + EVALUATION</a:t>
            </a:r>
          </a:p>
        </p:txBody>
      </p:sp>
      <p:sp>
        <p:nvSpPr>
          <p:cNvPr id="5" name="">
            <a:extLst xmlns:a="http://schemas.openxmlformats.org/drawingml/2006/main">
              <a:ext uri="{FF2B5EF4-FFF2-40B4-BE49-F238E27FC236}">
                <a16:creationId xmlns:a16="http://schemas.microsoft.com/office/drawing/2014/main" id="{4BF6303E-FED7-4AA5-888C-7E7FD01D81CF}"/>
              </a:ext>
            </a:extLst>
          </p:cNvPr>
          <p:cNvSpPr>
            <a:spLocks xmlns:a="http://schemas.openxmlformats.org/drawingml/2006/main" noGrp="1"/>
          </p:cNvSpPr>
          <p:nvPr/>
        </p:nvSpPr>
        <p:spPr>
          <a:xfrm xmlns:a="http://schemas.openxmlformats.org/drawingml/2006/main">
            <a:off x="11049000" y="65151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a:solidFill>
                  <a:srgbClr val="52676B"/>
                </a:solidFill>
                <a:latin typeface="Helvetica Neue"/>
                <a:ea typeface="Helvetica Neue"/>
                <a:cs typeface="Helvetica Neue"/>
              </a:defRPr>
            </a:pPr>
            <a:r>
              <a:rPr sz="975" b="0">
                <a:solidFill>
                  <a:srgbClr val="52676B"/>
                </a:solidFill>
                <a:latin typeface="Helvetica Neue"/>
                <a:ea typeface="Helvetica Neue"/>
                <a:cs typeface="Helvetica Neue"/>
              </a:rPr>
              <a:t>04</a:t>
            </a:r>
          </a:p>
        </p:txBody>
      </p:sp>
      <p:sp>
        <p:nvSpPr>
          <p:cNvPr id="6" name="">
            <a:extLst xmlns:a="http://schemas.openxmlformats.org/drawingml/2006/main">
              <a:ext uri="{FF2B5EF4-FFF2-40B4-BE49-F238E27FC236}">
                <a16:creationId xmlns:a16="http://schemas.microsoft.com/office/drawing/2014/main" id="{C5AE3A57-08B1-42CA-B552-83B8FBF0ADAB}"/>
              </a:ext>
            </a:extLst>
          </p:cNvPr>
          <p:cNvSpPr>
            <a:spLocks xmlns:a="http://schemas.openxmlformats.org/drawingml/2006/main" noGrp="1"/>
          </p:cNvSpPr>
          <p:nvPr/>
        </p:nvSpPr>
        <p:spPr>
          <a:xfrm xmlns:a="http://schemas.openxmlformats.org/drawingml/2006/main">
            <a:off x="742950" y="1714500"/>
            <a:ext cx="1752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167C80"/>
                </a:solidFill>
                <a:latin typeface="Helvetica Neue"/>
                <a:ea typeface="Helvetica Neue"/>
                <a:cs typeface="Helvetica Neue"/>
              </a:defRPr>
            </a:pPr>
            <a:r>
              <a:rPr sz="1275" b="1">
                <a:solidFill>
                  <a:srgbClr val="167C80"/>
                </a:solidFill>
                <a:latin typeface="Helvetica Neue"/>
                <a:ea typeface="Helvetica Neue"/>
                <a:cs typeface="Helvetica Neue"/>
              </a:rPr>
              <a:t>PRESERVE</a:t>
            </a:r>
          </a:p>
        </p:txBody>
      </p:sp>
      <p:sp>
        <p:nvSpPr>
          <p:cNvPr id="7" name="">
            <a:extLst xmlns:a="http://schemas.openxmlformats.org/drawingml/2006/main">
              <a:ext uri="{FF2B5EF4-FFF2-40B4-BE49-F238E27FC236}">
                <a16:creationId xmlns:a16="http://schemas.microsoft.com/office/drawing/2014/main" id="{E2F3C080-A4D4-4797-BFC1-CED63D7C5D26}"/>
              </a:ext>
            </a:extLst>
          </p:cNvPr>
          <p:cNvSpPr>
            <a:spLocks xmlns:a="http://schemas.openxmlformats.org/drawingml/2006/main" noGrp="1"/>
          </p:cNvSpPr>
          <p:nvPr/>
        </p:nvSpPr>
        <p:spPr>
          <a:xfrm xmlns:a="http://schemas.openxmlformats.org/drawingml/2006/main">
            <a:off x="2647950" y="16954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132E35"/>
                </a:solidFill>
                <a:latin typeface="Helvetica Neue"/>
                <a:ea typeface="Helvetica Neue"/>
                <a:cs typeface="Helvetica Neue"/>
              </a:defRPr>
            </a:pPr>
            <a:r>
              <a:rPr sz="1575" b="0">
                <a:solidFill>
                  <a:srgbClr val="132E35"/>
                </a:solidFill>
                <a:latin typeface="Helvetica Neue"/>
                <a:ea typeface="Helvetica Neue"/>
                <a:cs typeface="Helvetica Neue"/>
              </a:rPr>
              <a:t>Allergies as recorded, active and historical problems, medication status, dated measurements, and raw units.</a:t>
            </a:r>
          </a:p>
        </p:txBody>
      </p:sp>
      <p:sp>
        <p:nvSpPr>
          <p:cNvPr id="8" name="">
            <a:extLst xmlns:a="http://schemas.openxmlformats.org/drawingml/2006/main">
              <a:ext uri="{FF2B5EF4-FFF2-40B4-BE49-F238E27FC236}">
                <a16:creationId xmlns:a16="http://schemas.microsoft.com/office/drawing/2014/main" id="{DACC832C-8205-40FC-AD52-7BB412226FE2}"/>
              </a:ext>
            </a:extLst>
          </p:cNvPr>
          <p:cNvSpPr>
            <a:spLocks xmlns:a="http://schemas.openxmlformats.org/drawingml/2006/main" noGrp="1"/>
          </p:cNvSpPr>
          <p:nvPr/>
        </p:nvSpPr>
        <p:spPr>
          <a:xfrm xmlns:a="http://schemas.openxmlformats.org/drawingml/2006/main">
            <a:off x="742950" y="2333625"/>
            <a:ext cx="1057275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9" name="">
            <a:extLst xmlns:a="http://schemas.openxmlformats.org/drawingml/2006/main">
              <a:ext uri="{FF2B5EF4-FFF2-40B4-BE49-F238E27FC236}">
                <a16:creationId xmlns:a16="http://schemas.microsoft.com/office/drawing/2014/main" id="{29646826-795C-4810-B2AF-AD5336AE6280}"/>
              </a:ext>
            </a:extLst>
          </p:cNvPr>
          <p:cNvSpPr>
            <a:spLocks xmlns:a="http://schemas.openxmlformats.org/drawingml/2006/main" noGrp="1"/>
          </p:cNvSpPr>
          <p:nvPr/>
        </p:nvSpPr>
        <p:spPr>
          <a:xfrm xmlns:a="http://schemas.openxmlformats.org/drawingml/2006/main">
            <a:off x="742950" y="2581275"/>
            <a:ext cx="1752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167C80"/>
                </a:solidFill>
                <a:latin typeface="Helvetica Neue"/>
                <a:ea typeface="Helvetica Neue"/>
                <a:cs typeface="Helvetica Neue"/>
              </a:defRPr>
            </a:pPr>
            <a:r>
              <a:rPr sz="1275" b="1">
                <a:solidFill>
                  <a:srgbClr val="167C80"/>
                </a:solidFill>
                <a:latin typeface="Helvetica Neue"/>
                <a:ea typeface="Helvetica Neue"/>
                <a:cs typeface="Helvetica Neue"/>
              </a:rPr>
              <a:t>TRACE</a:t>
            </a:r>
          </a:p>
        </p:txBody>
      </p:sp>
      <p:sp>
        <p:nvSpPr>
          <p:cNvPr id="10" name="">
            <a:extLst xmlns:a="http://schemas.openxmlformats.org/drawingml/2006/main">
              <a:ext uri="{FF2B5EF4-FFF2-40B4-BE49-F238E27FC236}">
                <a16:creationId xmlns:a16="http://schemas.microsoft.com/office/drawing/2014/main" id="{855D5DA0-6D7A-453B-BC59-A7890074881F}"/>
              </a:ext>
            </a:extLst>
          </p:cNvPr>
          <p:cNvSpPr>
            <a:spLocks xmlns:a="http://schemas.openxmlformats.org/drawingml/2006/main" noGrp="1"/>
          </p:cNvSpPr>
          <p:nvPr/>
        </p:nvSpPr>
        <p:spPr>
          <a:xfrm xmlns:a="http://schemas.openxmlformats.org/drawingml/2006/main">
            <a:off x="2647950" y="256222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132E35"/>
                </a:solidFill>
                <a:latin typeface="Helvetica Neue"/>
                <a:ea typeface="Helvetica Neue"/>
                <a:cs typeface="Helvetica Neue"/>
              </a:defRPr>
            </a:pPr>
            <a:r>
              <a:rPr sz="1575" b="0">
                <a:solidFill>
                  <a:srgbClr val="132E35"/>
                </a:solidFill>
                <a:latin typeface="Helvetica Neue"/>
                <a:ea typeface="Helvetica Neue"/>
                <a:cs typeface="Helvetica Neue"/>
              </a:rPr>
              <a:t>Every surfaced fact points to FHIR resource IDs. Keep effective, issued, recorded, onset, and abatement dates distinct.</a:t>
            </a:r>
          </a:p>
        </p:txBody>
      </p:sp>
      <p:sp>
        <p:nvSpPr>
          <p:cNvPr id="11" name="">
            <a:extLst xmlns:a="http://schemas.openxmlformats.org/drawingml/2006/main">
              <a:ext uri="{FF2B5EF4-FFF2-40B4-BE49-F238E27FC236}">
                <a16:creationId xmlns:a16="http://schemas.microsoft.com/office/drawing/2014/main" id="{16A5E18B-9B06-48C7-B145-A584174DE6B2}"/>
              </a:ext>
            </a:extLst>
          </p:cNvPr>
          <p:cNvSpPr>
            <a:spLocks xmlns:a="http://schemas.openxmlformats.org/drawingml/2006/main" noGrp="1"/>
          </p:cNvSpPr>
          <p:nvPr/>
        </p:nvSpPr>
        <p:spPr>
          <a:xfrm xmlns:a="http://schemas.openxmlformats.org/drawingml/2006/main">
            <a:off x="742950" y="3200400"/>
            <a:ext cx="1057275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2" name="">
            <a:extLst xmlns:a="http://schemas.openxmlformats.org/drawingml/2006/main">
              <a:ext uri="{FF2B5EF4-FFF2-40B4-BE49-F238E27FC236}">
                <a16:creationId xmlns:a16="http://schemas.microsoft.com/office/drawing/2014/main" id="{94D3C986-1A23-4A0D-A1A5-7B7E660DF146}"/>
              </a:ext>
            </a:extLst>
          </p:cNvPr>
          <p:cNvSpPr>
            <a:spLocks xmlns:a="http://schemas.openxmlformats.org/drawingml/2006/main" noGrp="1"/>
          </p:cNvSpPr>
          <p:nvPr/>
        </p:nvSpPr>
        <p:spPr>
          <a:xfrm xmlns:a="http://schemas.openxmlformats.org/drawingml/2006/main">
            <a:off x="742950" y="3448050"/>
            <a:ext cx="1752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167C80"/>
                </a:solidFill>
                <a:latin typeface="Helvetica Neue"/>
                <a:ea typeface="Helvetica Neue"/>
                <a:cs typeface="Helvetica Neue"/>
              </a:defRPr>
            </a:pPr>
            <a:r>
              <a:rPr sz="1275" b="1">
                <a:solidFill>
                  <a:srgbClr val="167C80"/>
                </a:solidFill>
                <a:latin typeface="Helvetica Neue"/>
                <a:ea typeface="Helvetica Neue"/>
                <a:cs typeface="Helvetica Neue"/>
              </a:rPr>
              <a:t>DEDUPLICATE</a:t>
            </a:r>
          </a:p>
        </p:txBody>
      </p:sp>
      <p:sp>
        <p:nvSpPr>
          <p:cNvPr id="13" name="">
            <a:extLst xmlns:a="http://schemas.openxmlformats.org/drawingml/2006/main">
              <a:ext uri="{FF2B5EF4-FFF2-40B4-BE49-F238E27FC236}">
                <a16:creationId xmlns:a16="http://schemas.microsoft.com/office/drawing/2014/main" id="{094E02DF-DC25-4551-A190-51B1D6E674AB}"/>
              </a:ext>
            </a:extLst>
          </p:cNvPr>
          <p:cNvSpPr>
            <a:spLocks xmlns:a="http://schemas.openxmlformats.org/drawingml/2006/main" noGrp="1"/>
          </p:cNvSpPr>
          <p:nvPr/>
        </p:nvSpPr>
        <p:spPr>
          <a:xfrm xmlns:a="http://schemas.openxmlformats.org/drawingml/2006/main">
            <a:off x="2647950" y="342900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132E35"/>
                </a:solidFill>
                <a:latin typeface="Helvetica Neue"/>
                <a:ea typeface="Helvetica Neue"/>
                <a:cs typeface="Helvetica Neue"/>
              </a:defRPr>
            </a:pPr>
            <a:r>
              <a:rPr sz="1575" b="0">
                <a:solidFill>
                  <a:srgbClr val="132E35"/>
                </a:solidFill>
                <a:latin typeface="Helvetica Neue"/>
                <a:ea typeface="Helvetica Neue"/>
                <a:cs typeface="Helvetica Neue"/>
              </a:rPr>
              <a:t>Collapse only identical note payloads. Retain links to each original DocumentReference and DiagnosticReport.</a:t>
            </a:r>
          </a:p>
        </p:txBody>
      </p:sp>
      <p:sp>
        <p:nvSpPr>
          <p:cNvPr id="14" name="">
            <a:extLst xmlns:a="http://schemas.openxmlformats.org/drawingml/2006/main">
              <a:ext uri="{FF2B5EF4-FFF2-40B4-BE49-F238E27FC236}">
                <a16:creationId xmlns:a16="http://schemas.microsoft.com/office/drawing/2014/main" id="{C25C5C5D-8885-4A8C-9DF0-C4A727C7E286}"/>
              </a:ext>
            </a:extLst>
          </p:cNvPr>
          <p:cNvSpPr>
            <a:spLocks xmlns:a="http://schemas.openxmlformats.org/drawingml/2006/main" noGrp="1"/>
          </p:cNvSpPr>
          <p:nvPr/>
        </p:nvSpPr>
        <p:spPr>
          <a:xfrm xmlns:a="http://schemas.openxmlformats.org/drawingml/2006/main">
            <a:off x="742950" y="4067175"/>
            <a:ext cx="1057275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5" name="">
            <a:extLst xmlns:a="http://schemas.openxmlformats.org/drawingml/2006/main">
              <a:ext uri="{FF2B5EF4-FFF2-40B4-BE49-F238E27FC236}">
                <a16:creationId xmlns:a16="http://schemas.microsoft.com/office/drawing/2014/main" id="{253B0722-0A20-45BF-BB54-94BDC31A1E97}"/>
              </a:ext>
            </a:extLst>
          </p:cNvPr>
          <p:cNvSpPr>
            <a:spLocks xmlns:a="http://schemas.openxmlformats.org/drawingml/2006/main" noGrp="1"/>
          </p:cNvSpPr>
          <p:nvPr/>
        </p:nvSpPr>
        <p:spPr>
          <a:xfrm xmlns:a="http://schemas.openxmlformats.org/drawingml/2006/main">
            <a:off x="742950" y="4314825"/>
            <a:ext cx="1752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167C80"/>
                </a:solidFill>
                <a:latin typeface="Helvetica Neue"/>
                <a:ea typeface="Helvetica Neue"/>
                <a:cs typeface="Helvetica Neue"/>
              </a:defRPr>
            </a:pPr>
            <a:r>
              <a:rPr sz="1275" b="1">
                <a:solidFill>
                  <a:srgbClr val="167C80"/>
                </a:solidFill>
                <a:latin typeface="Helvetica Neue"/>
                <a:ea typeface="Helvetica Neue"/>
                <a:cs typeface="Helvetica Neue"/>
              </a:rPr>
              <a:t>DEFER</a:t>
            </a:r>
          </a:p>
        </p:txBody>
      </p:sp>
      <p:sp>
        <p:nvSpPr>
          <p:cNvPr id="16" name="">
            <a:extLst xmlns:a="http://schemas.openxmlformats.org/drawingml/2006/main">
              <a:ext uri="{FF2B5EF4-FFF2-40B4-BE49-F238E27FC236}">
                <a16:creationId xmlns:a16="http://schemas.microsoft.com/office/drawing/2014/main" id="{C81D1A05-1E19-40C6-9EA1-4006F82CADEB}"/>
              </a:ext>
            </a:extLst>
          </p:cNvPr>
          <p:cNvSpPr>
            <a:spLocks xmlns:a="http://schemas.openxmlformats.org/drawingml/2006/main" noGrp="1"/>
          </p:cNvSpPr>
          <p:nvPr/>
        </p:nvSpPr>
        <p:spPr>
          <a:xfrm xmlns:a="http://schemas.openxmlformats.org/drawingml/2006/main">
            <a:off x="2647950" y="429577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132E35"/>
                </a:solidFill>
                <a:latin typeface="Helvetica Neue"/>
                <a:ea typeface="Helvetica Neue"/>
                <a:cs typeface="Helvetica Neue"/>
              </a:defRPr>
            </a:pPr>
            <a:r>
              <a:rPr sz="1575" b="0">
                <a:solidFill>
                  <a:srgbClr val="132E35"/>
                </a:solidFill>
                <a:latin typeface="Helvetica Neue"/>
                <a:ea typeface="Helvetica Neue"/>
                <a:cs typeface="Helvetica Neue"/>
              </a:rPr>
              <a:t>Keep billing out of the default context; retain omitted normalized facts for patient-scoped retrieval.</a:t>
            </a:r>
          </a:p>
        </p:txBody>
      </p:sp>
      <p:sp>
        <p:nvSpPr>
          <p:cNvPr id="17" name="">
            <a:extLst xmlns:a="http://schemas.openxmlformats.org/drawingml/2006/main">
              <a:ext uri="{FF2B5EF4-FFF2-40B4-BE49-F238E27FC236}">
                <a16:creationId xmlns:a16="http://schemas.microsoft.com/office/drawing/2014/main" id="{CA016B15-14AE-49CA-9FA2-A9B5BA703DC7}"/>
              </a:ext>
            </a:extLst>
          </p:cNvPr>
          <p:cNvSpPr>
            <a:spLocks xmlns:a="http://schemas.openxmlformats.org/drawingml/2006/main" noGrp="1"/>
          </p:cNvSpPr>
          <p:nvPr/>
        </p:nvSpPr>
        <p:spPr>
          <a:xfrm xmlns:a="http://schemas.openxmlformats.org/drawingml/2006/main">
            <a:off x="742950" y="4933950"/>
            <a:ext cx="1057275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8" name="">
            <a:extLst xmlns:a="http://schemas.openxmlformats.org/drawingml/2006/main">
              <a:ext uri="{FF2B5EF4-FFF2-40B4-BE49-F238E27FC236}">
                <a16:creationId xmlns:a16="http://schemas.microsoft.com/office/drawing/2014/main" id="{31E4DAC7-E790-4FCF-8862-8F3DB1CF22E6}"/>
              </a:ext>
            </a:extLst>
          </p:cNvPr>
          <p:cNvSpPr>
            <a:spLocks xmlns:a="http://schemas.openxmlformats.org/drawingml/2006/main" noGrp="1"/>
          </p:cNvSpPr>
          <p:nvPr/>
        </p:nvSpPr>
        <p:spPr>
          <a:xfrm xmlns:a="http://schemas.openxmlformats.org/drawingml/2006/main">
            <a:off x="742950" y="5181600"/>
            <a:ext cx="1752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C56A3B"/>
                </a:solidFill>
                <a:latin typeface="Helvetica Neue"/>
                <a:ea typeface="Helvetica Neue"/>
                <a:cs typeface="Helvetica Neue"/>
              </a:defRPr>
            </a:pPr>
            <a:r>
              <a:rPr sz="1275" b="1">
                <a:solidFill>
                  <a:srgbClr val="C56A3B"/>
                </a:solidFill>
                <a:latin typeface="Helvetica Neue"/>
                <a:ea typeface="Helvetica Neue"/>
                <a:cs typeface="Helvetica Neue"/>
              </a:rPr>
              <a:t>COUNT</a:t>
            </a:r>
          </a:p>
        </p:txBody>
      </p:sp>
      <p:sp>
        <p:nvSpPr>
          <p:cNvPr id="19" name="">
            <a:extLst xmlns:a="http://schemas.openxmlformats.org/drawingml/2006/main">
              <a:ext uri="{FF2B5EF4-FFF2-40B4-BE49-F238E27FC236}">
                <a16:creationId xmlns:a16="http://schemas.microsoft.com/office/drawing/2014/main" id="{D4BE7CA1-773D-49B4-966C-19FE0F816FC4}"/>
              </a:ext>
            </a:extLst>
          </p:cNvPr>
          <p:cNvSpPr>
            <a:spLocks xmlns:a="http://schemas.openxmlformats.org/drawingml/2006/main" noGrp="1"/>
          </p:cNvSpPr>
          <p:nvPr/>
        </p:nvSpPr>
        <p:spPr>
          <a:xfrm xmlns:a="http://schemas.openxmlformats.org/drawingml/2006/main">
            <a:off x="2647950" y="51625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132E35"/>
                </a:solidFill>
                <a:latin typeface="Helvetica Neue"/>
                <a:ea typeface="Helvetica Neue"/>
                <a:cs typeface="Helvetica Neue"/>
              </a:defRPr>
            </a:pPr>
            <a:r>
              <a:rPr sz="1575" b="0">
                <a:solidFill>
                  <a:srgbClr val="132E35"/>
                </a:solidFill>
                <a:latin typeface="Helvetica Neue"/>
                <a:ea typeface="Helvetica Neue"/>
                <a:cs typeface="Helvetica Neue"/>
              </a:rPr>
              <a:t>Count the exact rendered message with Anthropic. Mark local tokenizer counts as estimates, never as proof of the cap.</a:t>
            </a:r>
          </a:p>
        </p:txBody>
      </p:sp>
    </p:spTree>
    <p:extLst>
      <p:ext uri="{BB962C8B-B14F-4D97-AF65-F5344CB8AC3E}">
        <p14:creationId xmlns:p14="http://schemas.microsoft.com/office/powerpoint/2010/main" val="251889383"/>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8B76E2E-601D-47ED-804A-A3E4A8148AF7}"/>
              </a:ext>
            </a:extLst>
          </p:cNvPr>
          <p:cNvSpPr>
            <a:spLocks xmlns:a="http://schemas.openxmlformats.org/drawingml/2006/main" noGrp="1"/>
          </p:cNvSpPr>
          <p:nvPr/>
        </p:nvSpPr>
        <p:spPr>
          <a:xfrm xmlns:a="http://schemas.openxmlformats.org/drawingml/2006/main">
            <a:off x="647700" y="400050"/>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132E35"/>
                </a:solidFill>
                <a:latin typeface="Helvetica Neue"/>
                <a:ea typeface="Helvetica Neue"/>
                <a:cs typeface="Helvetica Neue"/>
              </a:defRPr>
            </a:pPr>
            <a:r>
              <a:rPr sz="3150" b="1">
                <a:solidFill>
                  <a:srgbClr val="132E35"/>
                </a:solidFill>
                <a:latin typeface="Helvetica Neue"/>
                <a:ea typeface="Helvetica Neue"/>
                <a:cs typeface="Helvetica Neue"/>
              </a:rPr>
              <a:t>Known-answer chat questions</a:t>
            </a:r>
          </a:p>
        </p:txBody>
      </p:sp>
      <p:sp>
        <p:nvSpPr>
          <p:cNvPr id="2" name="">
            <a:extLst xmlns:a="http://schemas.openxmlformats.org/drawingml/2006/main">
              <a:ext uri="{FF2B5EF4-FFF2-40B4-BE49-F238E27FC236}">
                <a16:creationId xmlns:a16="http://schemas.microsoft.com/office/drawing/2014/main" id="{32580A3E-D71C-4B56-919D-C0E6ED47A8D7}"/>
              </a:ext>
            </a:extLst>
          </p:cNvPr>
          <p:cNvSpPr>
            <a:spLocks xmlns:a="http://schemas.openxmlformats.org/drawingml/2006/main" noGrp="1"/>
          </p:cNvSpPr>
          <p:nvPr/>
        </p:nvSpPr>
        <p:spPr>
          <a:xfrm xmlns:a="http://schemas.openxmlformats.org/drawingml/2006/main">
            <a:off x="66675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2676B"/>
                </a:solidFill>
                <a:latin typeface="Helvetica Neue"/>
                <a:ea typeface="Helvetica Neue"/>
                <a:cs typeface="Helvetica Neue"/>
              </a:defRPr>
            </a:pPr>
            <a:r>
              <a:rPr sz="1575" b="0">
                <a:solidFill>
                  <a:srgbClr val="52676B"/>
                </a:solidFill>
                <a:latin typeface="Helvetica Neue"/>
                <a:ea typeface="Helvetica Neue"/>
                <a:cs typeface="Helvetica Neue"/>
              </a:rPr>
              <a:t>One synthetic patient anchors exact lookup, trend reasoning, and missing-data behavior</a:t>
            </a:r>
          </a:p>
        </p:txBody>
      </p:sp>
      <p:sp>
        <p:nvSpPr>
          <p:cNvPr id="3" name="">
            <a:extLst xmlns:a="http://schemas.openxmlformats.org/drawingml/2006/main">
              <a:ext uri="{FF2B5EF4-FFF2-40B4-BE49-F238E27FC236}">
                <a16:creationId xmlns:a16="http://schemas.microsoft.com/office/drawing/2014/main" id="{48913C9D-7BBD-46ED-8DA8-768A35592A83}"/>
              </a:ext>
            </a:extLst>
          </p:cNvPr>
          <p:cNvSpPr>
            <a:spLocks xmlns:a="http://schemas.openxmlformats.org/drawingml/2006/main" noGrp="1"/>
          </p:cNvSpPr>
          <p:nvPr/>
        </p:nvSpPr>
        <p:spPr>
          <a:xfrm xmlns:a="http://schemas.openxmlformats.org/drawingml/2006/main">
            <a:off x="647700" y="6429375"/>
            <a:ext cx="108966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4" name="">
            <a:extLst xmlns:a="http://schemas.openxmlformats.org/drawingml/2006/main">
              <a:ext uri="{FF2B5EF4-FFF2-40B4-BE49-F238E27FC236}">
                <a16:creationId xmlns:a16="http://schemas.microsoft.com/office/drawing/2014/main" id="{0028345F-3A07-4A4E-A06A-A3FABA7E2501}"/>
              </a:ext>
            </a:extLst>
          </p:cNvPr>
          <p:cNvSpPr>
            <a:spLocks xmlns:a="http://schemas.openxmlformats.org/drawingml/2006/main" noGrp="1"/>
          </p:cNvSpPr>
          <p:nvPr/>
        </p:nvSpPr>
        <p:spPr>
          <a:xfrm xmlns:a="http://schemas.openxmlformats.org/drawingml/2006/main">
            <a:off x="647700" y="6534150"/>
            <a:ext cx="7239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52676B"/>
                </a:solidFill>
                <a:latin typeface="Helvetica Neue"/>
                <a:ea typeface="Helvetica Neue"/>
                <a:cs typeface="Helvetica Neue"/>
              </a:defRPr>
            </a:pPr>
            <a:r>
              <a:rPr sz="900" b="1">
                <a:solidFill>
                  <a:srgbClr val="52676B"/>
                </a:solidFill>
                <a:latin typeface="Helvetica Neue"/>
                <a:ea typeface="Helvetica Neue"/>
                <a:cs typeface="Helvetica Neue"/>
              </a:rPr>
              <a:t>SYNTHETIC HIE  /  CONTEXT + EVALUATION</a:t>
            </a:r>
          </a:p>
        </p:txBody>
      </p:sp>
      <p:sp>
        <p:nvSpPr>
          <p:cNvPr id="5" name="">
            <a:extLst xmlns:a="http://schemas.openxmlformats.org/drawingml/2006/main">
              <a:ext uri="{FF2B5EF4-FFF2-40B4-BE49-F238E27FC236}">
                <a16:creationId xmlns:a16="http://schemas.microsoft.com/office/drawing/2014/main" id="{AD473038-DBD9-4818-9A79-78EC80EAEB1E}"/>
              </a:ext>
            </a:extLst>
          </p:cNvPr>
          <p:cNvSpPr>
            <a:spLocks xmlns:a="http://schemas.openxmlformats.org/drawingml/2006/main" noGrp="1"/>
          </p:cNvSpPr>
          <p:nvPr/>
        </p:nvSpPr>
        <p:spPr>
          <a:xfrm xmlns:a="http://schemas.openxmlformats.org/drawingml/2006/main">
            <a:off x="11049000" y="65151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a:solidFill>
                  <a:srgbClr val="52676B"/>
                </a:solidFill>
                <a:latin typeface="Helvetica Neue"/>
                <a:ea typeface="Helvetica Neue"/>
                <a:cs typeface="Helvetica Neue"/>
              </a:defRPr>
            </a:pPr>
            <a:r>
              <a:rPr sz="975" b="0">
                <a:solidFill>
                  <a:srgbClr val="52676B"/>
                </a:solidFill>
                <a:latin typeface="Helvetica Neue"/>
                <a:ea typeface="Helvetica Neue"/>
                <a:cs typeface="Helvetica Neue"/>
              </a:rPr>
              <a:t>05</a:t>
            </a:r>
          </a:p>
        </p:txBody>
      </p:sp>
      <p:sp>
        <p:nvSpPr>
          <p:cNvPr id="6" name="">
            <a:extLst xmlns:a="http://schemas.openxmlformats.org/drawingml/2006/main">
              <a:ext uri="{FF2B5EF4-FFF2-40B4-BE49-F238E27FC236}">
                <a16:creationId xmlns:a16="http://schemas.microsoft.com/office/drawing/2014/main" id="{2EAF4E6D-61F7-4FDA-AF14-1B66FF3F82C7}"/>
              </a:ext>
            </a:extLst>
          </p:cNvPr>
          <p:cNvSpPr>
            <a:spLocks xmlns:a="http://schemas.openxmlformats.org/drawingml/2006/main" noGrp="1"/>
          </p:cNvSpPr>
          <p:nvPr/>
        </p:nvSpPr>
        <p:spPr>
          <a:xfrm xmlns:a="http://schemas.openxmlformats.org/drawingml/2006/main">
            <a:off x="685800" y="1685925"/>
            <a:ext cx="333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167C80"/>
                </a:solidFill>
                <a:latin typeface="Helvetica Neue"/>
                <a:ea typeface="Helvetica Neue"/>
                <a:cs typeface="Helvetica Neue"/>
              </a:defRPr>
            </a:pPr>
            <a:r>
              <a:rPr sz="1125" b="1">
                <a:solidFill>
                  <a:srgbClr val="167C80"/>
                </a:solidFill>
                <a:latin typeface="Helvetica Neue"/>
                <a:ea typeface="Helvetica Neue"/>
                <a:cs typeface="Helvetica Neue"/>
              </a:rPr>
              <a:t>CHAT QUESTION</a:t>
            </a:r>
          </a:p>
        </p:txBody>
      </p:sp>
      <p:sp>
        <p:nvSpPr>
          <p:cNvPr id="7" name="">
            <a:extLst xmlns:a="http://schemas.openxmlformats.org/drawingml/2006/main">
              <a:ext uri="{FF2B5EF4-FFF2-40B4-BE49-F238E27FC236}">
                <a16:creationId xmlns:a16="http://schemas.microsoft.com/office/drawing/2014/main" id="{DF031B7F-B20A-4B04-A509-C8FA1C78C9B8}"/>
              </a:ext>
            </a:extLst>
          </p:cNvPr>
          <p:cNvSpPr>
            <a:spLocks xmlns:a="http://schemas.openxmlformats.org/drawingml/2006/main" noGrp="1"/>
          </p:cNvSpPr>
          <p:nvPr/>
        </p:nvSpPr>
        <p:spPr>
          <a:xfrm xmlns:a="http://schemas.openxmlformats.org/drawingml/2006/main">
            <a:off x="4229100" y="1685925"/>
            <a:ext cx="342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167C80"/>
                </a:solidFill>
                <a:latin typeface="Helvetica Neue"/>
                <a:ea typeface="Helvetica Neue"/>
                <a:cs typeface="Helvetica Neue"/>
              </a:defRPr>
            </a:pPr>
            <a:r>
              <a:rPr sz="1125" b="1">
                <a:solidFill>
                  <a:srgbClr val="167C80"/>
                </a:solidFill>
                <a:latin typeface="Helvetica Neue"/>
                <a:ea typeface="Helvetica Neue"/>
                <a:cs typeface="Helvetica Neue"/>
              </a:rPr>
              <a:t>KNOWN ANSWER</a:t>
            </a:r>
          </a:p>
        </p:txBody>
      </p:sp>
      <p:sp>
        <p:nvSpPr>
          <p:cNvPr id="8" name="">
            <a:extLst xmlns:a="http://schemas.openxmlformats.org/drawingml/2006/main">
              <a:ext uri="{FF2B5EF4-FFF2-40B4-BE49-F238E27FC236}">
                <a16:creationId xmlns:a16="http://schemas.microsoft.com/office/drawing/2014/main" id="{538A67C6-053A-4DE3-994A-4C5BFB85714D}"/>
              </a:ext>
            </a:extLst>
          </p:cNvPr>
          <p:cNvSpPr>
            <a:spLocks xmlns:a="http://schemas.openxmlformats.org/drawingml/2006/main" noGrp="1"/>
          </p:cNvSpPr>
          <p:nvPr/>
        </p:nvSpPr>
        <p:spPr>
          <a:xfrm xmlns:a="http://schemas.openxmlformats.org/drawingml/2006/main">
            <a:off x="7867650" y="1685925"/>
            <a:ext cx="3638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125" b="1">
                <a:solidFill>
                  <a:srgbClr val="167C80"/>
                </a:solidFill>
                <a:latin typeface="Helvetica Neue"/>
                <a:ea typeface="Helvetica Neue"/>
                <a:cs typeface="Helvetica Neue"/>
              </a:defRPr>
            </a:pPr>
            <a:r>
              <a:rPr sz="1125" b="1">
                <a:solidFill>
                  <a:srgbClr val="167C80"/>
                </a:solidFill>
                <a:latin typeface="Helvetica Neue"/>
                <a:ea typeface="Helvetica Neue"/>
                <a:cs typeface="Helvetica Neue"/>
              </a:rPr>
              <a:t>EVIDENCE TO CHECK</a:t>
            </a:r>
          </a:p>
        </p:txBody>
      </p:sp>
      <p:sp>
        <p:nvSpPr>
          <p:cNvPr id="9" name="">
            <a:extLst xmlns:a="http://schemas.openxmlformats.org/drawingml/2006/main">
              <a:ext uri="{FF2B5EF4-FFF2-40B4-BE49-F238E27FC236}">
                <a16:creationId xmlns:a16="http://schemas.microsoft.com/office/drawing/2014/main" id="{1F5912F5-1E86-4782-842F-29CF03D5D363}"/>
              </a:ext>
            </a:extLst>
          </p:cNvPr>
          <p:cNvSpPr>
            <a:spLocks xmlns:a="http://schemas.openxmlformats.org/drawingml/2006/main" noGrp="1"/>
          </p:cNvSpPr>
          <p:nvPr/>
        </p:nvSpPr>
        <p:spPr>
          <a:xfrm xmlns:a="http://schemas.openxmlformats.org/drawingml/2006/main">
            <a:off x="685800" y="2038350"/>
            <a:ext cx="10820400" cy="0"/>
          </a:xfrm>
          <a:prstGeom xmlns:a="http://schemas.openxmlformats.org/drawingml/2006/main" prst="line">
            <a:avLst/>
          </a:prstGeom>
          <a:noFill xmlns:a="http://schemas.openxmlformats.org/drawingml/2006/main"/>
          <a:ln xmlns:a="http://schemas.openxmlformats.org/drawingml/2006/main" w="19050">
            <a:solidFill>
              <a:srgbClr val="132E35"/>
            </a:solidFill>
            <a:prstDash val="solid"/>
          </a:ln>
        </p:spPr>
      </p:sp>
      <p:sp>
        <p:nvSpPr>
          <p:cNvPr id="10" name="">
            <a:extLst xmlns:a="http://schemas.openxmlformats.org/drawingml/2006/main">
              <a:ext uri="{FF2B5EF4-FFF2-40B4-BE49-F238E27FC236}">
                <a16:creationId xmlns:a16="http://schemas.microsoft.com/office/drawing/2014/main" id="{4520E529-1F4D-4102-A4D6-B523084CA8A2}"/>
              </a:ext>
            </a:extLst>
          </p:cNvPr>
          <p:cNvSpPr>
            <a:spLocks xmlns:a="http://schemas.openxmlformats.org/drawingml/2006/main" noGrp="1"/>
          </p:cNvSpPr>
          <p:nvPr/>
        </p:nvSpPr>
        <p:spPr>
          <a:xfrm xmlns:a="http://schemas.openxmlformats.org/drawingml/2006/main">
            <a:off x="685800" y="2266950"/>
            <a:ext cx="3219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32E35"/>
                </a:solidFill>
                <a:latin typeface="Helvetica Neue"/>
                <a:ea typeface="Helvetica Neue"/>
                <a:cs typeface="Helvetica Neue"/>
              </a:defRPr>
            </a:pPr>
            <a:r>
              <a:rPr sz="1500" b="1">
                <a:solidFill>
                  <a:srgbClr val="132E35"/>
                </a:solidFill>
                <a:latin typeface="Helvetica Neue"/>
                <a:ea typeface="Helvetica Neue"/>
                <a:cs typeface="Helvetica Neue"/>
              </a:rPr>
              <a:t>Most recent HbA1c and date?</a:t>
            </a:r>
          </a:p>
        </p:txBody>
      </p:sp>
      <p:sp>
        <p:nvSpPr>
          <p:cNvPr id="11" name="">
            <a:extLst xmlns:a="http://schemas.openxmlformats.org/drawingml/2006/main">
              <a:ext uri="{FF2B5EF4-FFF2-40B4-BE49-F238E27FC236}">
                <a16:creationId xmlns:a16="http://schemas.microsoft.com/office/drawing/2014/main" id="{733437AB-7A0E-4A26-8F6D-836BF7F809A2}"/>
              </a:ext>
            </a:extLst>
          </p:cNvPr>
          <p:cNvSpPr>
            <a:spLocks xmlns:a="http://schemas.openxmlformats.org/drawingml/2006/main" noGrp="1"/>
          </p:cNvSpPr>
          <p:nvPr/>
        </p:nvSpPr>
        <p:spPr>
          <a:xfrm xmlns:a="http://schemas.openxmlformats.org/drawingml/2006/main">
            <a:off x="4229100" y="2266950"/>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32E35"/>
                </a:solidFill>
                <a:latin typeface="Helvetica Neue"/>
                <a:ea typeface="Helvetica Neue"/>
                <a:cs typeface="Helvetica Neue"/>
              </a:defRPr>
            </a:pPr>
            <a:r>
              <a:rPr sz="1425" b="0">
                <a:solidFill>
                  <a:srgbClr val="132E35"/>
                </a:solidFill>
                <a:latin typeface="Helvetica Neue"/>
                <a:ea typeface="Helvetica Neue"/>
                <a:cs typeface="Helvetica Neue"/>
              </a:rPr>
              <a:t>6.31% on 2025-09-29</a:t>
            </a:r>
          </a:p>
        </p:txBody>
      </p:sp>
      <p:sp>
        <p:nvSpPr>
          <p:cNvPr id="12" name="">
            <a:extLst xmlns:a="http://schemas.openxmlformats.org/drawingml/2006/main">
              <a:ext uri="{FF2B5EF4-FFF2-40B4-BE49-F238E27FC236}">
                <a16:creationId xmlns:a16="http://schemas.microsoft.com/office/drawing/2014/main" id="{4A675CB7-37C4-4249-BA27-047B2BBFB18D}"/>
              </a:ext>
            </a:extLst>
          </p:cNvPr>
          <p:cNvSpPr>
            <a:spLocks xmlns:a="http://schemas.openxmlformats.org/drawingml/2006/main" noGrp="1"/>
          </p:cNvSpPr>
          <p:nvPr/>
        </p:nvSpPr>
        <p:spPr>
          <a:xfrm xmlns:a="http://schemas.openxmlformats.org/drawingml/2006/main">
            <a:off x="7867650" y="2266950"/>
            <a:ext cx="352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Observation f5749532-…-daa4b0203574</a:t>
            </a:r>
          </a:p>
        </p:txBody>
      </p:sp>
      <p:sp>
        <p:nvSpPr>
          <p:cNvPr id="13" name="">
            <a:extLst xmlns:a="http://schemas.openxmlformats.org/drawingml/2006/main">
              <a:ext uri="{FF2B5EF4-FFF2-40B4-BE49-F238E27FC236}">
                <a16:creationId xmlns:a16="http://schemas.microsoft.com/office/drawing/2014/main" id="{4E974DFB-8380-44F5-8BE5-1EA6CA17DF58}"/>
              </a:ext>
            </a:extLst>
          </p:cNvPr>
          <p:cNvSpPr>
            <a:spLocks xmlns:a="http://schemas.openxmlformats.org/drawingml/2006/main" noGrp="1"/>
          </p:cNvSpPr>
          <p:nvPr/>
        </p:nvSpPr>
        <p:spPr>
          <a:xfrm xmlns:a="http://schemas.openxmlformats.org/drawingml/2006/main">
            <a:off x="685800" y="3152775"/>
            <a:ext cx="108204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4" name="">
            <a:extLst xmlns:a="http://schemas.openxmlformats.org/drawingml/2006/main">
              <a:ext uri="{FF2B5EF4-FFF2-40B4-BE49-F238E27FC236}">
                <a16:creationId xmlns:a16="http://schemas.microsoft.com/office/drawing/2014/main" id="{F8BCF929-D83D-4E42-9830-C15FD3419E47}"/>
              </a:ext>
            </a:extLst>
          </p:cNvPr>
          <p:cNvSpPr>
            <a:spLocks xmlns:a="http://schemas.openxmlformats.org/drawingml/2006/main" noGrp="1"/>
          </p:cNvSpPr>
          <p:nvPr/>
        </p:nvSpPr>
        <p:spPr>
          <a:xfrm xmlns:a="http://schemas.openxmlformats.org/drawingml/2006/main">
            <a:off x="685800" y="3400425"/>
            <a:ext cx="3219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32E35"/>
                </a:solidFill>
                <a:latin typeface="Helvetica Neue"/>
                <a:ea typeface="Helvetica Neue"/>
                <a:cs typeface="Helvetica Neue"/>
              </a:defRPr>
            </a:pPr>
            <a:r>
              <a:rPr sz="1500" b="1">
                <a:solidFill>
                  <a:srgbClr val="132E35"/>
                </a:solidFill>
                <a:latin typeface="Helvetica Neue"/>
                <a:ea typeface="Helvetica Neue"/>
                <a:cs typeface="Helvetica Neue"/>
              </a:rPr>
              <a:t>Is blood sugar getting worse? Tie to a diagnosis.</a:t>
            </a:r>
          </a:p>
        </p:txBody>
      </p:sp>
      <p:sp>
        <p:nvSpPr>
          <p:cNvPr id="15" name="">
            <a:extLst xmlns:a="http://schemas.openxmlformats.org/drawingml/2006/main">
              <a:ext uri="{FF2B5EF4-FFF2-40B4-BE49-F238E27FC236}">
                <a16:creationId xmlns:a16="http://schemas.microsoft.com/office/drawing/2014/main" id="{16EE34FD-EFE6-4E1E-B683-199688AE7222}"/>
              </a:ext>
            </a:extLst>
          </p:cNvPr>
          <p:cNvSpPr>
            <a:spLocks xmlns:a="http://schemas.openxmlformats.org/drawingml/2006/main" noGrp="1"/>
          </p:cNvSpPr>
          <p:nvPr/>
        </p:nvSpPr>
        <p:spPr>
          <a:xfrm xmlns:a="http://schemas.openxmlformats.org/drawingml/2006/main">
            <a:off x="4229100" y="3400425"/>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32E35"/>
                </a:solidFill>
                <a:latin typeface="Helvetica Neue"/>
                <a:ea typeface="Helvetica Neue"/>
                <a:cs typeface="Helvetica Neue"/>
              </a:defRPr>
            </a:pPr>
            <a:r>
              <a:rPr sz="1425" b="0">
                <a:solidFill>
                  <a:srgbClr val="132E35"/>
                </a:solidFill>
                <a:latin typeface="Helvetica Neue"/>
                <a:ea typeface="Helvetica Neue"/>
                <a:cs typeface="Helvetica Neue"/>
              </a:rPr>
              <a:t>Rising overall with fluctuations; prediabetes is recorded.</a:t>
            </a:r>
          </a:p>
        </p:txBody>
      </p:sp>
      <p:sp>
        <p:nvSpPr>
          <p:cNvPr id="16" name="">
            <a:extLst xmlns:a="http://schemas.openxmlformats.org/drawingml/2006/main">
              <a:ext uri="{FF2B5EF4-FFF2-40B4-BE49-F238E27FC236}">
                <a16:creationId xmlns:a16="http://schemas.microsoft.com/office/drawing/2014/main" id="{12F3B51A-A7F8-4B6D-BBFD-04B0F24F5613}"/>
              </a:ext>
            </a:extLst>
          </p:cNvPr>
          <p:cNvSpPr>
            <a:spLocks xmlns:a="http://schemas.openxmlformats.org/drawingml/2006/main" noGrp="1"/>
          </p:cNvSpPr>
          <p:nvPr/>
        </p:nvSpPr>
        <p:spPr>
          <a:xfrm xmlns:a="http://schemas.openxmlformats.org/drawingml/2006/main">
            <a:off x="7867650" y="3400425"/>
            <a:ext cx="352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Dated HbA1c series + active Condition</a:t>
            </a:r>
          </a:p>
        </p:txBody>
      </p:sp>
      <p:sp>
        <p:nvSpPr>
          <p:cNvPr id="17" name="">
            <a:extLst xmlns:a="http://schemas.openxmlformats.org/drawingml/2006/main">
              <a:ext uri="{FF2B5EF4-FFF2-40B4-BE49-F238E27FC236}">
                <a16:creationId xmlns:a16="http://schemas.microsoft.com/office/drawing/2014/main" id="{76EE3949-5CB5-40E8-9498-A3F85A33DAB6}"/>
              </a:ext>
            </a:extLst>
          </p:cNvPr>
          <p:cNvSpPr>
            <a:spLocks xmlns:a="http://schemas.openxmlformats.org/drawingml/2006/main" noGrp="1"/>
          </p:cNvSpPr>
          <p:nvPr/>
        </p:nvSpPr>
        <p:spPr>
          <a:xfrm xmlns:a="http://schemas.openxmlformats.org/drawingml/2006/main">
            <a:off x="685800" y="4286250"/>
            <a:ext cx="108204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8" name="">
            <a:extLst xmlns:a="http://schemas.openxmlformats.org/drawingml/2006/main">
              <a:ext uri="{FF2B5EF4-FFF2-40B4-BE49-F238E27FC236}">
                <a16:creationId xmlns:a16="http://schemas.microsoft.com/office/drawing/2014/main" id="{F67838A0-16D5-486E-9665-F9A7145EDC8D}"/>
              </a:ext>
            </a:extLst>
          </p:cNvPr>
          <p:cNvSpPr>
            <a:spLocks xmlns:a="http://schemas.openxmlformats.org/drawingml/2006/main" noGrp="1"/>
          </p:cNvSpPr>
          <p:nvPr/>
        </p:nvSpPr>
        <p:spPr>
          <a:xfrm xmlns:a="http://schemas.openxmlformats.org/drawingml/2006/main">
            <a:off x="685800" y="4533900"/>
            <a:ext cx="3219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1">
                <a:solidFill>
                  <a:srgbClr val="132E35"/>
                </a:solidFill>
                <a:latin typeface="Helvetica Neue"/>
                <a:ea typeface="Helvetica Neue"/>
                <a:cs typeface="Helvetica Neue"/>
              </a:defRPr>
            </a:pPr>
            <a:r>
              <a:rPr sz="1500" b="1">
                <a:solidFill>
                  <a:srgbClr val="132E35"/>
                </a:solidFill>
                <a:latin typeface="Helvetica Neue"/>
                <a:ea typeface="Helvetica Neue"/>
                <a:cs typeface="Helvetica Neue"/>
              </a:rPr>
              <a:t>What is she allergic to?</a:t>
            </a:r>
          </a:p>
        </p:txBody>
      </p:sp>
      <p:sp>
        <p:nvSpPr>
          <p:cNvPr id="19" name="">
            <a:extLst xmlns:a="http://schemas.openxmlformats.org/drawingml/2006/main">
              <a:ext uri="{FF2B5EF4-FFF2-40B4-BE49-F238E27FC236}">
                <a16:creationId xmlns:a16="http://schemas.microsoft.com/office/drawing/2014/main" id="{672EB4D3-8CF9-4033-85BE-59E6132EB023}"/>
              </a:ext>
            </a:extLst>
          </p:cNvPr>
          <p:cNvSpPr>
            <a:spLocks xmlns:a="http://schemas.openxmlformats.org/drawingml/2006/main" noGrp="1"/>
          </p:cNvSpPr>
          <p:nvPr/>
        </p:nvSpPr>
        <p:spPr>
          <a:xfrm xmlns:a="http://schemas.openxmlformats.org/drawingml/2006/main">
            <a:off x="4229100" y="4533900"/>
            <a:ext cx="331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0">
                <a:solidFill>
                  <a:srgbClr val="132E35"/>
                </a:solidFill>
                <a:latin typeface="Helvetica Neue"/>
                <a:ea typeface="Helvetica Neue"/>
                <a:cs typeface="Helvetica Neue"/>
              </a:defRPr>
            </a:pPr>
            <a:r>
              <a:rPr sz="1425" b="0">
                <a:solidFill>
                  <a:srgbClr val="132E35"/>
                </a:solidFill>
                <a:latin typeface="Helvetica Neue"/>
                <a:ea typeface="Helvetica Neue"/>
                <a:cs typeface="Helvetica Neue"/>
              </a:rPr>
              <a:t>No allergy is recorded in this bundle.</a:t>
            </a:r>
          </a:p>
        </p:txBody>
      </p:sp>
      <p:sp>
        <p:nvSpPr>
          <p:cNvPr id="20" name="">
            <a:extLst xmlns:a="http://schemas.openxmlformats.org/drawingml/2006/main">
              <a:ext uri="{FF2B5EF4-FFF2-40B4-BE49-F238E27FC236}">
                <a16:creationId xmlns:a16="http://schemas.microsoft.com/office/drawing/2014/main" id="{DA4A7686-7C16-463A-B77D-71F8E7EF7532}"/>
              </a:ext>
            </a:extLst>
          </p:cNvPr>
          <p:cNvSpPr>
            <a:spLocks xmlns:a="http://schemas.openxmlformats.org/drawingml/2006/main" noGrp="1"/>
          </p:cNvSpPr>
          <p:nvPr/>
        </p:nvSpPr>
        <p:spPr>
          <a:xfrm xmlns:a="http://schemas.openxmlformats.org/drawingml/2006/main">
            <a:off x="7867650" y="4533900"/>
            <a:ext cx="3524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0">
                <a:solidFill>
                  <a:srgbClr val="52676B"/>
                </a:solidFill>
                <a:latin typeface="Helvetica Neue"/>
                <a:ea typeface="Helvetica Neue"/>
                <a:cs typeface="Helvetica Neue"/>
              </a:defRPr>
            </a:pPr>
            <a:r>
              <a:rPr sz="1275" b="0">
                <a:solidFill>
                  <a:srgbClr val="52676B"/>
                </a:solidFill>
                <a:latin typeface="Helvetica Neue"/>
                <a:ea typeface="Helvetica Neue"/>
                <a:cs typeface="Helvetica Neue"/>
              </a:rPr>
              <a:t>No AllergyIntolerance resource</a:t>
            </a:r>
          </a:p>
        </p:txBody>
      </p:sp>
      <p:sp>
        <p:nvSpPr>
          <p:cNvPr id="21" name="">
            <a:extLst xmlns:a="http://schemas.openxmlformats.org/drawingml/2006/main">
              <a:ext uri="{FF2B5EF4-FFF2-40B4-BE49-F238E27FC236}">
                <a16:creationId xmlns:a16="http://schemas.microsoft.com/office/drawing/2014/main" id="{AED84052-2EA6-44D2-B35B-BA78F6C67263}"/>
              </a:ext>
            </a:extLst>
          </p:cNvPr>
          <p:cNvSpPr>
            <a:spLocks xmlns:a="http://schemas.openxmlformats.org/drawingml/2006/main" noGrp="1"/>
          </p:cNvSpPr>
          <p:nvPr/>
        </p:nvSpPr>
        <p:spPr>
          <a:xfrm xmlns:a="http://schemas.openxmlformats.org/drawingml/2006/main">
            <a:off x="685800" y="5419725"/>
            <a:ext cx="108204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22" name="">
            <a:extLst xmlns:a="http://schemas.openxmlformats.org/drawingml/2006/main">
              <a:ext uri="{FF2B5EF4-FFF2-40B4-BE49-F238E27FC236}">
                <a16:creationId xmlns:a16="http://schemas.microsoft.com/office/drawing/2014/main" id="{49277BF2-245F-4831-A9F9-BB29E99832AD}"/>
              </a:ext>
            </a:extLst>
          </p:cNvPr>
          <p:cNvSpPr>
            <a:spLocks xmlns:a="http://schemas.openxmlformats.org/drawingml/2006/main" noGrp="1"/>
          </p:cNvSpPr>
          <p:nvPr/>
        </p:nvSpPr>
        <p:spPr>
          <a:xfrm xmlns:a="http://schemas.openxmlformats.org/drawingml/2006/main">
            <a:off x="685800" y="58007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C56A3B"/>
                </a:solidFill>
                <a:latin typeface="Helvetica Neue"/>
                <a:ea typeface="Helvetica Neue"/>
                <a:cs typeface="Helvetica Neue"/>
              </a:defRPr>
            </a:pPr>
            <a:r>
              <a:rPr sz="1275" b="1">
                <a:solidFill>
                  <a:srgbClr val="C56A3B"/>
                </a:solidFill>
                <a:latin typeface="Helvetica Neue"/>
                <a:ea typeface="Helvetica Neue"/>
                <a:cs typeface="Helvetica Neue"/>
              </a:rPr>
              <a:t>The allergy answer describes the record, not the patient's confirmed clinical state.</a:t>
            </a:r>
          </a:p>
        </p:txBody>
      </p:sp>
    </p:spTree>
    <p:extLst>
      <p:ext uri="{BB962C8B-B14F-4D97-AF65-F5344CB8AC3E}">
        <p14:creationId xmlns:p14="http://schemas.microsoft.com/office/powerpoint/2010/main" val="124992216"/>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5809052-3B81-44E8-896F-182B4A969D6D}"/>
              </a:ext>
            </a:extLst>
          </p:cNvPr>
          <p:cNvSpPr>
            <a:spLocks xmlns:a="http://schemas.openxmlformats.org/drawingml/2006/main" noGrp="1"/>
          </p:cNvSpPr>
          <p:nvPr/>
        </p:nvSpPr>
        <p:spPr>
          <a:xfrm xmlns:a="http://schemas.openxmlformats.org/drawingml/2006/main">
            <a:off x="647700" y="400050"/>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132E35"/>
                </a:solidFill>
                <a:latin typeface="Helvetica Neue"/>
                <a:ea typeface="Helvetica Neue"/>
                <a:cs typeface="Helvetica Neue"/>
              </a:defRPr>
            </a:pPr>
            <a:r>
              <a:rPr sz="3150" b="1">
                <a:solidFill>
                  <a:srgbClr val="132E35"/>
                </a:solidFill>
                <a:latin typeface="Helvetica Neue"/>
                <a:ea typeface="Helvetica Neue"/>
                <a:cs typeface="Helvetica Neue"/>
              </a:rPr>
              <a:t>Evaluation separates answer from evidence</a:t>
            </a:r>
          </a:p>
        </p:txBody>
      </p:sp>
      <p:sp>
        <p:nvSpPr>
          <p:cNvPr id="2" name="">
            <a:extLst xmlns:a="http://schemas.openxmlformats.org/drawingml/2006/main">
              <a:ext uri="{FF2B5EF4-FFF2-40B4-BE49-F238E27FC236}">
                <a16:creationId xmlns:a16="http://schemas.microsoft.com/office/drawing/2014/main" id="{E47858C1-4B88-4F74-810B-DC8108447A91}"/>
              </a:ext>
            </a:extLst>
          </p:cNvPr>
          <p:cNvSpPr>
            <a:spLocks xmlns:a="http://schemas.openxmlformats.org/drawingml/2006/main" noGrp="1"/>
          </p:cNvSpPr>
          <p:nvPr/>
        </p:nvSpPr>
        <p:spPr>
          <a:xfrm xmlns:a="http://schemas.openxmlformats.org/drawingml/2006/main">
            <a:off x="66675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2676B"/>
                </a:solidFill>
                <a:latin typeface="Helvetica Neue"/>
                <a:ea typeface="Helvetica Neue"/>
                <a:cs typeface="Helvetica Neue"/>
              </a:defRPr>
            </a:pPr>
            <a:r>
              <a:rPr sz="1575" b="0">
                <a:solidFill>
                  <a:srgbClr val="52676B"/>
                </a:solidFill>
                <a:latin typeface="Helvetica Neue"/>
                <a:ea typeface="Helvetica Neue"/>
                <a:cs typeface="Helvetica Neue"/>
              </a:rPr>
              <a:t>A fluent answer only passes when its claim and source both hold up</a:t>
            </a:r>
          </a:p>
        </p:txBody>
      </p:sp>
      <p:sp>
        <p:nvSpPr>
          <p:cNvPr id="3" name="">
            <a:extLst xmlns:a="http://schemas.openxmlformats.org/drawingml/2006/main">
              <a:ext uri="{FF2B5EF4-FFF2-40B4-BE49-F238E27FC236}">
                <a16:creationId xmlns:a16="http://schemas.microsoft.com/office/drawing/2014/main" id="{F61B292E-C2D9-4AF6-9B92-EE830ED0F83F}"/>
              </a:ext>
            </a:extLst>
          </p:cNvPr>
          <p:cNvSpPr>
            <a:spLocks xmlns:a="http://schemas.openxmlformats.org/drawingml/2006/main" noGrp="1"/>
          </p:cNvSpPr>
          <p:nvPr/>
        </p:nvSpPr>
        <p:spPr>
          <a:xfrm xmlns:a="http://schemas.openxmlformats.org/drawingml/2006/main">
            <a:off x="647700" y="6429375"/>
            <a:ext cx="108966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4" name="">
            <a:extLst xmlns:a="http://schemas.openxmlformats.org/drawingml/2006/main">
              <a:ext uri="{FF2B5EF4-FFF2-40B4-BE49-F238E27FC236}">
                <a16:creationId xmlns:a16="http://schemas.microsoft.com/office/drawing/2014/main" id="{6FA9C572-4035-4638-A76C-929FD4CCB5B0}"/>
              </a:ext>
            </a:extLst>
          </p:cNvPr>
          <p:cNvSpPr>
            <a:spLocks xmlns:a="http://schemas.openxmlformats.org/drawingml/2006/main" noGrp="1"/>
          </p:cNvSpPr>
          <p:nvPr/>
        </p:nvSpPr>
        <p:spPr>
          <a:xfrm xmlns:a="http://schemas.openxmlformats.org/drawingml/2006/main">
            <a:off x="647700" y="6534150"/>
            <a:ext cx="7239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52676B"/>
                </a:solidFill>
                <a:latin typeface="Helvetica Neue"/>
                <a:ea typeface="Helvetica Neue"/>
                <a:cs typeface="Helvetica Neue"/>
              </a:defRPr>
            </a:pPr>
            <a:r>
              <a:rPr sz="900" b="1">
                <a:solidFill>
                  <a:srgbClr val="52676B"/>
                </a:solidFill>
                <a:latin typeface="Helvetica Neue"/>
                <a:ea typeface="Helvetica Neue"/>
                <a:cs typeface="Helvetica Neue"/>
              </a:rPr>
              <a:t>SYNTHETIC HIE  /  CONTEXT + EVALUATION</a:t>
            </a:r>
          </a:p>
        </p:txBody>
      </p:sp>
      <p:sp>
        <p:nvSpPr>
          <p:cNvPr id="5" name="">
            <a:extLst xmlns:a="http://schemas.openxmlformats.org/drawingml/2006/main">
              <a:ext uri="{FF2B5EF4-FFF2-40B4-BE49-F238E27FC236}">
                <a16:creationId xmlns:a16="http://schemas.microsoft.com/office/drawing/2014/main" id="{16178CDF-9B4C-4A93-A3EA-DB13533A7497}"/>
              </a:ext>
            </a:extLst>
          </p:cNvPr>
          <p:cNvSpPr>
            <a:spLocks xmlns:a="http://schemas.openxmlformats.org/drawingml/2006/main" noGrp="1"/>
          </p:cNvSpPr>
          <p:nvPr/>
        </p:nvSpPr>
        <p:spPr>
          <a:xfrm xmlns:a="http://schemas.openxmlformats.org/drawingml/2006/main">
            <a:off x="11049000" y="65151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a:solidFill>
                  <a:srgbClr val="52676B"/>
                </a:solidFill>
                <a:latin typeface="Helvetica Neue"/>
                <a:ea typeface="Helvetica Neue"/>
                <a:cs typeface="Helvetica Neue"/>
              </a:defRPr>
            </a:pPr>
            <a:r>
              <a:rPr sz="975" b="0">
                <a:solidFill>
                  <a:srgbClr val="52676B"/>
                </a:solidFill>
                <a:latin typeface="Helvetica Neue"/>
                <a:ea typeface="Helvetica Neue"/>
                <a:cs typeface="Helvetica Neue"/>
              </a:rPr>
              <a:t>06</a:t>
            </a:r>
          </a:p>
        </p:txBody>
      </p:sp>
      <p:sp>
        <p:nvSpPr>
          <p:cNvPr id="6" name="">
            <a:extLst xmlns:a="http://schemas.openxmlformats.org/drawingml/2006/main">
              <a:ext uri="{FF2B5EF4-FFF2-40B4-BE49-F238E27FC236}">
                <a16:creationId xmlns:a16="http://schemas.microsoft.com/office/drawing/2014/main" id="{8E034DCA-E37D-45DA-9CDE-E96B11494BA2}"/>
              </a:ext>
            </a:extLst>
          </p:cNvPr>
          <p:cNvSpPr>
            <a:spLocks xmlns:a="http://schemas.openxmlformats.org/drawingml/2006/main" noGrp="1"/>
          </p:cNvSpPr>
          <p:nvPr/>
        </p:nvSpPr>
        <p:spPr>
          <a:xfrm xmlns:a="http://schemas.openxmlformats.org/drawingml/2006/main">
            <a:off x="762000" y="17526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167C80"/>
                </a:solidFill>
                <a:latin typeface="Helvetica Neue"/>
                <a:ea typeface="Helvetica Neue"/>
                <a:cs typeface="Helvetica Neue"/>
              </a:defRPr>
            </a:pPr>
            <a:r>
              <a:rPr sz="1425" b="1">
                <a:solidFill>
                  <a:srgbClr val="167C80"/>
                </a:solidFill>
                <a:latin typeface="Helvetica Neue"/>
                <a:ea typeface="Helvetica Neue"/>
                <a:cs typeface="Helvetica Neue"/>
              </a:rPr>
              <a:t>ANSWER</a:t>
            </a:r>
          </a:p>
        </p:txBody>
      </p:sp>
      <p:sp>
        <p:nvSpPr>
          <p:cNvPr id="7" name="">
            <a:extLst xmlns:a="http://schemas.openxmlformats.org/drawingml/2006/main">
              <a:ext uri="{FF2B5EF4-FFF2-40B4-BE49-F238E27FC236}">
                <a16:creationId xmlns:a16="http://schemas.microsoft.com/office/drawing/2014/main" id="{31796901-952B-487F-8AE5-0C7B0C830103}"/>
              </a:ext>
            </a:extLst>
          </p:cNvPr>
          <p:cNvSpPr>
            <a:spLocks xmlns:a="http://schemas.openxmlformats.org/drawingml/2006/main" noGrp="1"/>
          </p:cNvSpPr>
          <p:nvPr/>
        </p:nvSpPr>
        <p:spPr>
          <a:xfrm xmlns:a="http://schemas.openxmlformats.org/drawingml/2006/main">
            <a:off x="2857500" y="1743075"/>
            <a:ext cx="781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32E35"/>
                </a:solidFill>
                <a:latin typeface="Helvetica Neue"/>
                <a:ea typeface="Helvetica Neue"/>
                <a:cs typeface="Helvetica Neue"/>
              </a:defRPr>
            </a:pPr>
            <a:r>
              <a:rPr sz="1725" b="0">
                <a:solidFill>
                  <a:srgbClr val="132E35"/>
                </a:solidFill>
                <a:latin typeface="Helvetica Neue"/>
                <a:ea typeface="Helvetica Neue"/>
                <a:cs typeface="Helvetica Neue"/>
              </a:rPr>
              <a:t>Compare the chat response with the reviewed known answer or required facts.</a:t>
            </a:r>
          </a:p>
        </p:txBody>
      </p:sp>
      <p:sp>
        <p:nvSpPr>
          <p:cNvPr id="8" name="">
            <a:extLst xmlns:a="http://schemas.openxmlformats.org/drawingml/2006/main">
              <a:ext uri="{FF2B5EF4-FFF2-40B4-BE49-F238E27FC236}">
                <a16:creationId xmlns:a16="http://schemas.microsoft.com/office/drawing/2014/main" id="{E872A191-F05E-4220-99A5-CBA877A2EBCA}"/>
              </a:ext>
            </a:extLst>
          </p:cNvPr>
          <p:cNvSpPr>
            <a:spLocks xmlns:a="http://schemas.openxmlformats.org/drawingml/2006/main" noGrp="1"/>
          </p:cNvSpPr>
          <p:nvPr/>
        </p:nvSpPr>
        <p:spPr>
          <a:xfrm xmlns:a="http://schemas.openxmlformats.org/drawingml/2006/main">
            <a:off x="762000" y="2495550"/>
            <a:ext cx="102870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9" name="">
            <a:extLst xmlns:a="http://schemas.openxmlformats.org/drawingml/2006/main">
              <a:ext uri="{FF2B5EF4-FFF2-40B4-BE49-F238E27FC236}">
                <a16:creationId xmlns:a16="http://schemas.microsoft.com/office/drawing/2014/main" id="{6ABD416D-A1BA-477A-81E6-15BAF0EE88C8}"/>
              </a:ext>
            </a:extLst>
          </p:cNvPr>
          <p:cNvSpPr>
            <a:spLocks xmlns:a="http://schemas.openxmlformats.org/drawingml/2006/main" noGrp="1"/>
          </p:cNvSpPr>
          <p:nvPr/>
        </p:nvSpPr>
        <p:spPr>
          <a:xfrm xmlns:a="http://schemas.openxmlformats.org/drawingml/2006/main">
            <a:off x="762000" y="286702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0D464B"/>
                </a:solidFill>
                <a:latin typeface="Helvetica Neue"/>
                <a:ea typeface="Helvetica Neue"/>
                <a:cs typeface="Helvetica Neue"/>
              </a:defRPr>
            </a:pPr>
            <a:r>
              <a:rPr sz="1425" b="1">
                <a:solidFill>
                  <a:srgbClr val="0D464B"/>
                </a:solidFill>
                <a:latin typeface="Helvetica Neue"/>
                <a:ea typeface="Helvetica Neue"/>
                <a:cs typeface="Helvetica Neue"/>
              </a:rPr>
              <a:t>EVIDENCE</a:t>
            </a:r>
          </a:p>
        </p:txBody>
      </p:sp>
      <p:sp>
        <p:nvSpPr>
          <p:cNvPr id="10" name="">
            <a:extLst xmlns:a="http://schemas.openxmlformats.org/drawingml/2006/main">
              <a:ext uri="{FF2B5EF4-FFF2-40B4-BE49-F238E27FC236}">
                <a16:creationId xmlns:a16="http://schemas.microsoft.com/office/drawing/2014/main" id="{F1E8ACCF-8751-45FE-AC87-DCE957C5442A}"/>
              </a:ext>
            </a:extLst>
          </p:cNvPr>
          <p:cNvSpPr>
            <a:spLocks xmlns:a="http://schemas.openxmlformats.org/drawingml/2006/main" noGrp="1"/>
          </p:cNvSpPr>
          <p:nvPr/>
        </p:nvSpPr>
        <p:spPr>
          <a:xfrm xmlns:a="http://schemas.openxmlformats.org/drawingml/2006/main">
            <a:off x="2857500" y="2857500"/>
            <a:ext cx="781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32E35"/>
                </a:solidFill>
                <a:latin typeface="Helvetica Neue"/>
                <a:ea typeface="Helvetica Neue"/>
                <a:cs typeface="Helvetica Neue"/>
              </a:defRPr>
            </a:pPr>
            <a:r>
              <a:rPr sz="1725" b="0">
                <a:solidFill>
                  <a:srgbClr val="132E35"/>
                </a:solidFill>
                <a:latin typeface="Helvetica Neue"/>
                <a:ea typeface="Helvetica Neue"/>
                <a:cs typeface="Helvetica Neue"/>
              </a:rPr>
              <a:t>Check required FHIR resource IDs, patient scope, and date/value support.</a:t>
            </a:r>
          </a:p>
        </p:txBody>
      </p:sp>
      <p:sp>
        <p:nvSpPr>
          <p:cNvPr id="11" name="">
            <a:extLst xmlns:a="http://schemas.openxmlformats.org/drawingml/2006/main">
              <a:ext uri="{FF2B5EF4-FFF2-40B4-BE49-F238E27FC236}">
                <a16:creationId xmlns:a16="http://schemas.microsoft.com/office/drawing/2014/main" id="{DA358320-5C8C-42DA-8330-E2EADB5B3EA9}"/>
              </a:ext>
            </a:extLst>
          </p:cNvPr>
          <p:cNvSpPr>
            <a:spLocks xmlns:a="http://schemas.openxmlformats.org/drawingml/2006/main" noGrp="1"/>
          </p:cNvSpPr>
          <p:nvPr/>
        </p:nvSpPr>
        <p:spPr>
          <a:xfrm xmlns:a="http://schemas.openxmlformats.org/drawingml/2006/main">
            <a:off x="762000" y="3609975"/>
            <a:ext cx="102870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2" name="">
            <a:extLst xmlns:a="http://schemas.openxmlformats.org/drawingml/2006/main">
              <a:ext uri="{FF2B5EF4-FFF2-40B4-BE49-F238E27FC236}">
                <a16:creationId xmlns:a16="http://schemas.microsoft.com/office/drawing/2014/main" id="{D74E670C-0129-47C8-96B8-EF88F05D06CA}"/>
              </a:ext>
            </a:extLst>
          </p:cNvPr>
          <p:cNvSpPr>
            <a:spLocks xmlns:a="http://schemas.openxmlformats.org/drawingml/2006/main" noGrp="1"/>
          </p:cNvSpPr>
          <p:nvPr/>
        </p:nvSpPr>
        <p:spPr>
          <a:xfrm xmlns:a="http://schemas.openxmlformats.org/drawingml/2006/main">
            <a:off x="762000" y="39814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425" b="1">
                <a:solidFill>
                  <a:srgbClr val="C56A3B"/>
                </a:solidFill>
                <a:latin typeface="Helvetica Neue"/>
                <a:ea typeface="Helvetica Neue"/>
                <a:cs typeface="Helvetica Neue"/>
              </a:defRPr>
            </a:pPr>
            <a:r>
              <a:rPr sz="1425" b="1">
                <a:solidFill>
                  <a:srgbClr val="C56A3B"/>
                </a:solidFill>
                <a:latin typeface="Helvetica Neue"/>
                <a:ea typeface="Helvetica Neue"/>
                <a:cs typeface="Helvetica Neue"/>
              </a:rPr>
              <a:t>BUDGET</a:t>
            </a:r>
          </a:p>
        </p:txBody>
      </p:sp>
      <p:sp>
        <p:nvSpPr>
          <p:cNvPr id="13" name="">
            <a:extLst xmlns:a="http://schemas.openxmlformats.org/drawingml/2006/main">
              <a:ext uri="{FF2B5EF4-FFF2-40B4-BE49-F238E27FC236}">
                <a16:creationId xmlns:a16="http://schemas.microsoft.com/office/drawing/2014/main" id="{F3F79616-5326-49F1-8737-B3E8D6CCD450}"/>
              </a:ext>
            </a:extLst>
          </p:cNvPr>
          <p:cNvSpPr>
            <a:spLocks xmlns:a="http://schemas.openxmlformats.org/drawingml/2006/main" noGrp="1"/>
          </p:cNvSpPr>
          <p:nvPr/>
        </p:nvSpPr>
        <p:spPr>
          <a:xfrm xmlns:a="http://schemas.openxmlformats.org/drawingml/2006/main">
            <a:off x="2857500" y="3971925"/>
            <a:ext cx="781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725" b="0">
                <a:solidFill>
                  <a:srgbClr val="132E35"/>
                </a:solidFill>
                <a:latin typeface="Helvetica Neue"/>
                <a:ea typeface="Helvetica Neue"/>
                <a:cs typeface="Helvetica Neue"/>
              </a:defRPr>
            </a:pPr>
            <a:r>
              <a:rPr sz="1725" b="0">
                <a:solidFill>
                  <a:srgbClr val="132E35"/>
                </a:solidFill>
                <a:latin typeface="Helvetica Neue"/>
                <a:ea typeface="Helvetica Neue"/>
                <a:cs typeface="Helvetica Neue"/>
              </a:rPr>
              <a:t>Check the exact context against 900,000 tokens using Anthropic's counter.</a:t>
            </a:r>
          </a:p>
        </p:txBody>
      </p:sp>
      <p:sp>
        <p:nvSpPr>
          <p:cNvPr id="14" name="">
            <a:extLst xmlns:a="http://schemas.openxmlformats.org/drawingml/2006/main">
              <a:ext uri="{FF2B5EF4-FFF2-40B4-BE49-F238E27FC236}">
                <a16:creationId xmlns:a16="http://schemas.microsoft.com/office/drawing/2014/main" id="{BE856C7F-AD3C-46E3-9385-B87167F87E18}"/>
              </a:ext>
            </a:extLst>
          </p:cNvPr>
          <p:cNvSpPr>
            <a:spLocks xmlns:a="http://schemas.openxmlformats.org/drawingml/2006/main" noGrp="1"/>
          </p:cNvSpPr>
          <p:nvPr/>
        </p:nvSpPr>
        <p:spPr>
          <a:xfrm xmlns:a="http://schemas.openxmlformats.org/drawingml/2006/main">
            <a:off x="762000" y="4724400"/>
            <a:ext cx="102870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5" name="">
            <a:extLst xmlns:a="http://schemas.openxmlformats.org/drawingml/2006/main">
              <a:ext uri="{FF2B5EF4-FFF2-40B4-BE49-F238E27FC236}">
                <a16:creationId xmlns:a16="http://schemas.microsoft.com/office/drawing/2014/main" id="{F19E6A8D-F796-46BA-9348-8F39618282FF}"/>
              </a:ext>
            </a:extLst>
          </p:cNvPr>
          <p:cNvSpPr>
            <a:spLocks xmlns:a="http://schemas.openxmlformats.org/drawingml/2006/main" noGrp="1"/>
          </p:cNvSpPr>
          <p:nvPr/>
        </p:nvSpPr>
        <p:spPr>
          <a:xfrm xmlns:a="http://schemas.openxmlformats.org/drawingml/2006/main">
            <a:off x="762000" y="5219700"/>
            <a:ext cx="2286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1">
                <a:solidFill>
                  <a:srgbClr val="167C80"/>
                </a:solidFill>
                <a:latin typeface="Helvetica Neue"/>
                <a:ea typeface="Helvetica Neue"/>
                <a:cs typeface="Helvetica Neue"/>
              </a:defRPr>
            </a:pPr>
            <a:r>
              <a:rPr sz="1200" b="1">
                <a:solidFill>
                  <a:srgbClr val="167C80"/>
                </a:solidFill>
                <a:latin typeface="Helvetica Neue"/>
                <a:ea typeface="Helvetica Neue"/>
                <a:cs typeface="Helvetica Neue"/>
              </a:rPr>
              <a:t>Current eval helper</a:t>
            </a:r>
          </a:p>
        </p:txBody>
      </p:sp>
      <p:sp>
        <p:nvSpPr>
          <p:cNvPr id="16" name="">
            <a:extLst xmlns:a="http://schemas.openxmlformats.org/drawingml/2006/main">
              <a:ext uri="{FF2B5EF4-FFF2-40B4-BE49-F238E27FC236}">
                <a16:creationId xmlns:a16="http://schemas.microsoft.com/office/drawing/2014/main" id="{A16386A5-8FC7-432E-9A53-CAD9DE5CE495}"/>
              </a:ext>
            </a:extLst>
          </p:cNvPr>
          <p:cNvSpPr>
            <a:spLocks xmlns:a="http://schemas.openxmlformats.org/drawingml/2006/main" noGrp="1"/>
          </p:cNvSpPr>
          <p:nvPr/>
        </p:nvSpPr>
        <p:spPr>
          <a:xfrm xmlns:a="http://schemas.openxmlformats.org/drawingml/2006/main">
            <a:off x="762000" y="5514975"/>
            <a:ext cx="10096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52676B"/>
                </a:solidFill>
                <a:latin typeface="Helvetica Neue"/>
                <a:ea typeface="Helvetica Neue"/>
                <a:cs typeface="Helvetica Neue"/>
              </a:defRPr>
            </a:pPr>
            <a:r>
              <a:rPr sz="1500" b="0">
                <a:solidFill>
                  <a:srgbClr val="52676B"/>
                </a:solidFill>
                <a:latin typeface="Helvetica Neue"/>
                <a:ea typeface="Helvetica Neue"/>
                <a:cs typeface="Helvetica Neue"/>
              </a:rPr>
              <a:t>Four hand-checkable cases; provider-free coverage is labeled as a proxy until chat answers are supplied.</a:t>
            </a:r>
          </a:p>
        </p:txBody>
      </p:sp>
    </p:spTree>
    <p:extLst>
      <p:ext uri="{BB962C8B-B14F-4D97-AF65-F5344CB8AC3E}">
        <p14:creationId xmlns:p14="http://schemas.microsoft.com/office/powerpoint/2010/main" val="984817253"/>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4BFEABB1-45A0-47F2-8CB2-B6EC77ED12DB}"/>
              </a:ext>
            </a:extLst>
          </p:cNvPr>
          <p:cNvSpPr>
            <a:spLocks xmlns:a="http://schemas.openxmlformats.org/drawingml/2006/main" noGrp="1"/>
          </p:cNvSpPr>
          <p:nvPr/>
        </p:nvSpPr>
        <p:spPr>
          <a:xfrm xmlns:a="http://schemas.openxmlformats.org/drawingml/2006/main">
            <a:off x="647700" y="400050"/>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132E35"/>
                </a:solidFill>
                <a:latin typeface="Helvetica Neue"/>
                <a:ea typeface="Helvetica Neue"/>
                <a:cs typeface="Helvetica Neue"/>
              </a:defRPr>
            </a:pPr>
            <a:r>
              <a:rPr sz="3150" b="1">
                <a:solidFill>
                  <a:srgbClr val="132E35"/>
                </a:solidFill>
                <a:latin typeface="Helvetica Neue"/>
                <a:ea typeface="Helvetica Neue"/>
                <a:cs typeface="Helvetica Neue"/>
              </a:rPr>
              <a:t>Context iteration loop</a:t>
            </a:r>
          </a:p>
        </p:txBody>
      </p:sp>
      <p:sp>
        <p:nvSpPr>
          <p:cNvPr id="2" name="">
            <a:extLst xmlns:a="http://schemas.openxmlformats.org/drawingml/2006/main">
              <a:ext uri="{FF2B5EF4-FFF2-40B4-BE49-F238E27FC236}">
                <a16:creationId xmlns:a16="http://schemas.microsoft.com/office/drawing/2014/main" id="{7907B4AA-079C-4497-BCC2-16B0D4E78431}"/>
              </a:ext>
            </a:extLst>
          </p:cNvPr>
          <p:cNvSpPr>
            <a:spLocks xmlns:a="http://schemas.openxmlformats.org/drawingml/2006/main" noGrp="1"/>
          </p:cNvSpPr>
          <p:nvPr/>
        </p:nvSpPr>
        <p:spPr>
          <a:xfrm xmlns:a="http://schemas.openxmlformats.org/drawingml/2006/main">
            <a:off x="66675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2676B"/>
                </a:solidFill>
                <a:latin typeface="Helvetica Neue"/>
                <a:ea typeface="Helvetica Neue"/>
                <a:cs typeface="Helvetica Neue"/>
              </a:defRPr>
            </a:pPr>
            <a:r>
              <a:rPr sz="1575" b="0">
                <a:solidFill>
                  <a:srgbClr val="52676B"/>
                </a:solidFill>
                <a:latin typeface="Helvetica Neue"/>
                <a:ea typeface="Helvetica Neue"/>
                <a:cs typeface="Helvetica Neue"/>
              </a:rPr>
              <a:t>Hold the patient, question set, and scoring rules constant</a:t>
            </a:r>
          </a:p>
        </p:txBody>
      </p:sp>
      <p:sp>
        <p:nvSpPr>
          <p:cNvPr id="3" name="">
            <a:extLst xmlns:a="http://schemas.openxmlformats.org/drawingml/2006/main">
              <a:ext uri="{FF2B5EF4-FFF2-40B4-BE49-F238E27FC236}">
                <a16:creationId xmlns:a16="http://schemas.microsoft.com/office/drawing/2014/main" id="{4C1844D6-4DDD-4790-A80B-F76445F4F8DC}"/>
              </a:ext>
            </a:extLst>
          </p:cNvPr>
          <p:cNvSpPr>
            <a:spLocks xmlns:a="http://schemas.openxmlformats.org/drawingml/2006/main" noGrp="1"/>
          </p:cNvSpPr>
          <p:nvPr/>
        </p:nvSpPr>
        <p:spPr>
          <a:xfrm xmlns:a="http://schemas.openxmlformats.org/drawingml/2006/main">
            <a:off x="647700" y="6429375"/>
            <a:ext cx="108966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4" name="">
            <a:extLst xmlns:a="http://schemas.openxmlformats.org/drawingml/2006/main">
              <a:ext uri="{FF2B5EF4-FFF2-40B4-BE49-F238E27FC236}">
                <a16:creationId xmlns:a16="http://schemas.microsoft.com/office/drawing/2014/main" id="{48C169BA-1FCA-442A-BEE6-974DBB1A31CC}"/>
              </a:ext>
            </a:extLst>
          </p:cNvPr>
          <p:cNvSpPr>
            <a:spLocks xmlns:a="http://schemas.openxmlformats.org/drawingml/2006/main" noGrp="1"/>
          </p:cNvSpPr>
          <p:nvPr/>
        </p:nvSpPr>
        <p:spPr>
          <a:xfrm xmlns:a="http://schemas.openxmlformats.org/drawingml/2006/main">
            <a:off x="647700" y="6534150"/>
            <a:ext cx="7239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52676B"/>
                </a:solidFill>
                <a:latin typeface="Helvetica Neue"/>
                <a:ea typeface="Helvetica Neue"/>
                <a:cs typeface="Helvetica Neue"/>
              </a:defRPr>
            </a:pPr>
            <a:r>
              <a:rPr sz="900" b="1">
                <a:solidFill>
                  <a:srgbClr val="52676B"/>
                </a:solidFill>
                <a:latin typeface="Helvetica Neue"/>
                <a:ea typeface="Helvetica Neue"/>
                <a:cs typeface="Helvetica Neue"/>
              </a:rPr>
              <a:t>SYNTHETIC HIE  /  CONTEXT + EVALUATION</a:t>
            </a:r>
          </a:p>
        </p:txBody>
      </p:sp>
      <p:sp>
        <p:nvSpPr>
          <p:cNvPr id="5" name="">
            <a:extLst xmlns:a="http://schemas.openxmlformats.org/drawingml/2006/main">
              <a:ext uri="{FF2B5EF4-FFF2-40B4-BE49-F238E27FC236}">
                <a16:creationId xmlns:a16="http://schemas.microsoft.com/office/drawing/2014/main" id="{95E673F4-EBC6-4F2D-A883-DCD4F301D310}"/>
              </a:ext>
            </a:extLst>
          </p:cNvPr>
          <p:cNvSpPr>
            <a:spLocks xmlns:a="http://schemas.openxmlformats.org/drawingml/2006/main" noGrp="1"/>
          </p:cNvSpPr>
          <p:nvPr/>
        </p:nvSpPr>
        <p:spPr>
          <a:xfrm xmlns:a="http://schemas.openxmlformats.org/drawingml/2006/main">
            <a:off x="11049000" y="65151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a:solidFill>
                  <a:srgbClr val="52676B"/>
                </a:solidFill>
                <a:latin typeface="Helvetica Neue"/>
                <a:ea typeface="Helvetica Neue"/>
                <a:cs typeface="Helvetica Neue"/>
              </a:defRPr>
            </a:pPr>
            <a:r>
              <a:rPr sz="975" b="0">
                <a:solidFill>
                  <a:srgbClr val="52676B"/>
                </a:solidFill>
                <a:latin typeface="Helvetica Neue"/>
                <a:ea typeface="Helvetica Neue"/>
                <a:cs typeface="Helvetica Neue"/>
              </a:rPr>
              <a:t>07</a:t>
            </a:r>
          </a:p>
        </p:txBody>
      </p:sp>
      <p:sp>
        <p:nvSpPr>
          <p:cNvPr id="6" name="">
            <a:extLst xmlns:a="http://schemas.openxmlformats.org/drawingml/2006/main">
              <a:ext uri="{FF2B5EF4-FFF2-40B4-BE49-F238E27FC236}">
                <a16:creationId xmlns:a16="http://schemas.microsoft.com/office/drawing/2014/main" id="{A4B28053-E924-4A89-8DDD-4377F0E10677}"/>
              </a:ext>
            </a:extLst>
          </p:cNvPr>
          <p:cNvSpPr>
            <a:spLocks xmlns:a="http://schemas.openxmlformats.org/drawingml/2006/main" noGrp="1"/>
          </p:cNvSpPr>
          <p:nvPr/>
        </p:nvSpPr>
        <p:spPr>
          <a:xfrm xmlns:a="http://schemas.openxmlformats.org/drawingml/2006/main">
            <a:off x="742950" y="19621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167C80"/>
                </a:solidFill>
                <a:latin typeface="Helvetica Neue"/>
                <a:ea typeface="Helvetica Neue"/>
                <a:cs typeface="Helvetica Neue"/>
              </a:defRPr>
            </a:pPr>
            <a:r>
              <a:rPr sz="2325" b="1">
                <a:solidFill>
                  <a:srgbClr val="167C80"/>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08EE90BC-7C95-4347-A054-C1E1AF581914}"/>
              </a:ext>
            </a:extLst>
          </p:cNvPr>
          <p:cNvSpPr>
            <a:spLocks xmlns:a="http://schemas.openxmlformats.org/drawingml/2006/main" noGrp="1"/>
          </p:cNvSpPr>
          <p:nvPr/>
        </p:nvSpPr>
        <p:spPr>
          <a:xfrm xmlns:a="http://schemas.openxmlformats.org/drawingml/2006/main">
            <a:off x="742950" y="2562225"/>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132E35"/>
                </a:solidFill>
                <a:latin typeface="Helvetica Neue"/>
                <a:ea typeface="Helvetica Neue"/>
                <a:cs typeface="Helvetica Neue"/>
              </a:defRPr>
            </a:pPr>
            <a:r>
              <a:rPr sz="1650" b="1">
                <a:solidFill>
                  <a:srgbClr val="132E35"/>
                </a:solidFill>
                <a:latin typeface="Helvetica Neue"/>
                <a:ea typeface="Helvetica Neue"/>
                <a:cs typeface="Helvetica Neue"/>
              </a:rPr>
              <a:t>Change one rule</a:t>
            </a:r>
          </a:p>
        </p:txBody>
      </p:sp>
      <p:sp>
        <p:nvSpPr>
          <p:cNvPr id="8" name="">
            <a:extLst xmlns:a="http://schemas.openxmlformats.org/drawingml/2006/main">
              <a:ext uri="{FF2B5EF4-FFF2-40B4-BE49-F238E27FC236}">
                <a16:creationId xmlns:a16="http://schemas.microsoft.com/office/drawing/2014/main" id="{D5C83BDE-EC60-4C27-96F6-4EF23CF9102C}"/>
              </a:ext>
            </a:extLst>
          </p:cNvPr>
          <p:cNvSpPr>
            <a:spLocks xmlns:a="http://schemas.openxmlformats.org/drawingml/2006/main" noGrp="1"/>
          </p:cNvSpPr>
          <p:nvPr/>
        </p:nvSpPr>
        <p:spPr>
          <a:xfrm xmlns:a="http://schemas.openxmlformats.org/drawingml/2006/main">
            <a:off x="742950" y="30289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76B"/>
                </a:solidFill>
                <a:latin typeface="Helvetica Neue"/>
                <a:ea typeface="Helvetica Neue"/>
                <a:cs typeface="Helvetica Neue"/>
              </a:defRPr>
            </a:pPr>
            <a:r>
              <a:rPr sz="1350" b="0">
                <a:solidFill>
                  <a:srgbClr val="52676B"/>
                </a:solidFill>
                <a:latin typeface="Helvetica Neue"/>
                <a:ea typeface="Helvetica Neue"/>
                <a:cs typeface="Helvetica Neue"/>
              </a:rPr>
              <a:t>Example: retain more recent observations.</a:t>
            </a:r>
          </a:p>
        </p:txBody>
      </p:sp>
      <p:sp>
        <p:nvSpPr>
          <p:cNvPr id="9" name="">
            <a:extLst xmlns:a="http://schemas.openxmlformats.org/drawingml/2006/main">
              <a:ext uri="{FF2B5EF4-FFF2-40B4-BE49-F238E27FC236}">
                <a16:creationId xmlns:a16="http://schemas.microsoft.com/office/drawing/2014/main" id="{CFC33DBB-F345-47E0-83C3-962FBD1BDE5F}"/>
              </a:ext>
            </a:extLst>
          </p:cNvPr>
          <p:cNvSpPr>
            <a:spLocks xmlns:a="http://schemas.openxmlformats.org/drawingml/2006/main" noGrp="1"/>
          </p:cNvSpPr>
          <p:nvPr/>
        </p:nvSpPr>
        <p:spPr>
          <a:xfrm xmlns:a="http://schemas.openxmlformats.org/drawingml/2006/main">
            <a:off x="742950" y="4010025"/>
            <a:ext cx="234315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0" name="">
            <a:extLst xmlns:a="http://schemas.openxmlformats.org/drawingml/2006/main">
              <a:ext uri="{FF2B5EF4-FFF2-40B4-BE49-F238E27FC236}">
                <a16:creationId xmlns:a16="http://schemas.microsoft.com/office/drawing/2014/main" id="{68F39D05-E3DC-4D6C-B572-C2BD578D2C14}"/>
              </a:ext>
            </a:extLst>
          </p:cNvPr>
          <p:cNvSpPr>
            <a:spLocks xmlns:a="http://schemas.openxmlformats.org/drawingml/2006/main" noGrp="1"/>
          </p:cNvSpPr>
          <p:nvPr/>
        </p:nvSpPr>
        <p:spPr>
          <a:xfrm xmlns:a="http://schemas.openxmlformats.org/drawingml/2006/main">
            <a:off x="3476625" y="19621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167C80"/>
                </a:solidFill>
                <a:latin typeface="Helvetica Neue"/>
                <a:ea typeface="Helvetica Neue"/>
                <a:cs typeface="Helvetica Neue"/>
              </a:defRPr>
            </a:pPr>
            <a:r>
              <a:rPr sz="2325" b="1">
                <a:solidFill>
                  <a:srgbClr val="167C80"/>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556D887F-A0DC-4D0E-B3B5-680205C1CCDE}"/>
              </a:ext>
            </a:extLst>
          </p:cNvPr>
          <p:cNvSpPr>
            <a:spLocks xmlns:a="http://schemas.openxmlformats.org/drawingml/2006/main" noGrp="1"/>
          </p:cNvSpPr>
          <p:nvPr/>
        </p:nvSpPr>
        <p:spPr>
          <a:xfrm xmlns:a="http://schemas.openxmlformats.org/drawingml/2006/main">
            <a:off x="3476625" y="2562225"/>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132E35"/>
                </a:solidFill>
                <a:latin typeface="Helvetica Neue"/>
                <a:ea typeface="Helvetica Neue"/>
                <a:cs typeface="Helvetica Neue"/>
              </a:defRPr>
            </a:pPr>
            <a:r>
              <a:rPr sz="1650" b="1">
                <a:solidFill>
                  <a:srgbClr val="132E35"/>
                </a:solidFill>
                <a:latin typeface="Helvetica Neue"/>
                <a:ea typeface="Helvetica Neue"/>
                <a:cs typeface="Helvetica Neue"/>
              </a:rPr>
              <a:t>Regenerate</a:t>
            </a:r>
          </a:p>
        </p:txBody>
      </p:sp>
      <p:sp>
        <p:nvSpPr>
          <p:cNvPr id="12" name="">
            <a:extLst xmlns:a="http://schemas.openxmlformats.org/drawingml/2006/main">
              <a:ext uri="{FF2B5EF4-FFF2-40B4-BE49-F238E27FC236}">
                <a16:creationId xmlns:a16="http://schemas.microsoft.com/office/drawing/2014/main" id="{C083E55E-3F36-4AD4-999A-F3CCFBE8132D}"/>
              </a:ext>
            </a:extLst>
          </p:cNvPr>
          <p:cNvSpPr>
            <a:spLocks xmlns:a="http://schemas.openxmlformats.org/drawingml/2006/main" noGrp="1"/>
          </p:cNvSpPr>
          <p:nvPr/>
        </p:nvSpPr>
        <p:spPr>
          <a:xfrm xmlns:a="http://schemas.openxmlformats.org/drawingml/2006/main">
            <a:off x="3476625" y="30289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76B"/>
                </a:solidFill>
                <a:latin typeface="Helvetica Neue"/>
                <a:ea typeface="Helvetica Neue"/>
                <a:cs typeface="Helvetica Neue"/>
              </a:defRPr>
            </a:pPr>
            <a:r>
              <a:rPr sz="1350" b="0">
                <a:solidFill>
                  <a:srgbClr val="52676B"/>
                </a:solidFill>
                <a:latin typeface="Helvetica Neue"/>
                <a:ea typeface="Helvetica Neue"/>
                <a:cs typeface="Helvetica Neue"/>
              </a:rPr>
              <a:t>Save the context and its count method.</a:t>
            </a:r>
          </a:p>
        </p:txBody>
      </p:sp>
      <p:sp>
        <p:nvSpPr>
          <p:cNvPr id="13" name="">
            <a:extLst xmlns:a="http://schemas.openxmlformats.org/drawingml/2006/main">
              <a:ext uri="{FF2B5EF4-FFF2-40B4-BE49-F238E27FC236}">
                <a16:creationId xmlns:a16="http://schemas.microsoft.com/office/drawing/2014/main" id="{8B783417-96F8-4687-BED9-F31CC0C4F69A}"/>
              </a:ext>
            </a:extLst>
          </p:cNvPr>
          <p:cNvSpPr>
            <a:spLocks xmlns:a="http://schemas.openxmlformats.org/drawingml/2006/main" noGrp="1"/>
          </p:cNvSpPr>
          <p:nvPr/>
        </p:nvSpPr>
        <p:spPr>
          <a:xfrm xmlns:a="http://schemas.openxmlformats.org/drawingml/2006/main">
            <a:off x="3476625" y="4010025"/>
            <a:ext cx="234315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4" name="">
            <a:extLst xmlns:a="http://schemas.openxmlformats.org/drawingml/2006/main">
              <a:ext uri="{FF2B5EF4-FFF2-40B4-BE49-F238E27FC236}">
                <a16:creationId xmlns:a16="http://schemas.microsoft.com/office/drawing/2014/main" id="{F53FAA14-D147-420E-9DCB-9268BD29350C}"/>
              </a:ext>
            </a:extLst>
          </p:cNvPr>
          <p:cNvSpPr>
            <a:spLocks xmlns:a="http://schemas.openxmlformats.org/drawingml/2006/main" noGrp="1"/>
          </p:cNvSpPr>
          <p:nvPr/>
        </p:nvSpPr>
        <p:spPr>
          <a:xfrm xmlns:a="http://schemas.openxmlformats.org/drawingml/2006/main">
            <a:off x="6210300" y="19621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167C80"/>
                </a:solidFill>
                <a:latin typeface="Helvetica Neue"/>
                <a:ea typeface="Helvetica Neue"/>
                <a:cs typeface="Helvetica Neue"/>
              </a:defRPr>
            </a:pPr>
            <a:r>
              <a:rPr sz="2325" b="1">
                <a:solidFill>
                  <a:srgbClr val="167C80"/>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1EFB6C44-F9C5-4060-80C0-3D6A29B5B9FE}"/>
              </a:ext>
            </a:extLst>
          </p:cNvPr>
          <p:cNvSpPr>
            <a:spLocks xmlns:a="http://schemas.openxmlformats.org/drawingml/2006/main" noGrp="1"/>
          </p:cNvSpPr>
          <p:nvPr/>
        </p:nvSpPr>
        <p:spPr>
          <a:xfrm xmlns:a="http://schemas.openxmlformats.org/drawingml/2006/main">
            <a:off x="6210300" y="2562225"/>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132E35"/>
                </a:solidFill>
                <a:latin typeface="Helvetica Neue"/>
                <a:ea typeface="Helvetica Neue"/>
                <a:cs typeface="Helvetica Neue"/>
              </a:defRPr>
            </a:pPr>
            <a:r>
              <a:rPr sz="1650" b="1">
                <a:solidFill>
                  <a:srgbClr val="132E35"/>
                </a:solidFill>
                <a:latin typeface="Helvetica Neue"/>
                <a:ea typeface="Helvetica Neue"/>
                <a:cs typeface="Helvetica Neue"/>
              </a:rPr>
              <a:t>Run fixed questions</a:t>
            </a:r>
          </a:p>
        </p:txBody>
      </p:sp>
      <p:sp>
        <p:nvSpPr>
          <p:cNvPr id="16" name="">
            <a:extLst xmlns:a="http://schemas.openxmlformats.org/drawingml/2006/main">
              <a:ext uri="{FF2B5EF4-FFF2-40B4-BE49-F238E27FC236}">
                <a16:creationId xmlns:a16="http://schemas.microsoft.com/office/drawing/2014/main" id="{8AA12014-EB9B-4526-B3D7-D2A5B3D55594}"/>
              </a:ext>
            </a:extLst>
          </p:cNvPr>
          <p:cNvSpPr>
            <a:spLocks xmlns:a="http://schemas.openxmlformats.org/drawingml/2006/main" noGrp="1"/>
          </p:cNvSpPr>
          <p:nvPr/>
        </p:nvSpPr>
        <p:spPr>
          <a:xfrm xmlns:a="http://schemas.openxmlformats.org/drawingml/2006/main">
            <a:off x="6210300" y="30289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76B"/>
                </a:solidFill>
                <a:latin typeface="Helvetica Neue"/>
                <a:ea typeface="Helvetica Neue"/>
                <a:cs typeface="Helvetica Neue"/>
              </a:defRPr>
            </a:pPr>
            <a:r>
              <a:rPr sz="1350" b="0">
                <a:solidFill>
                  <a:srgbClr val="52676B"/>
                </a:solidFill>
                <a:latin typeface="Helvetica Neue"/>
                <a:ea typeface="Helvetica Neue"/>
                <a:cs typeface="Helvetica Neue"/>
              </a:rPr>
              <a:t>Keep the chat prompt and retrieval policy fixed.</a:t>
            </a:r>
          </a:p>
        </p:txBody>
      </p:sp>
      <p:sp>
        <p:nvSpPr>
          <p:cNvPr id="17" name="">
            <a:extLst xmlns:a="http://schemas.openxmlformats.org/drawingml/2006/main">
              <a:ext uri="{FF2B5EF4-FFF2-40B4-BE49-F238E27FC236}">
                <a16:creationId xmlns:a16="http://schemas.microsoft.com/office/drawing/2014/main" id="{A897327F-8474-4FB4-BE19-D8847029921C}"/>
              </a:ext>
            </a:extLst>
          </p:cNvPr>
          <p:cNvSpPr>
            <a:spLocks xmlns:a="http://schemas.openxmlformats.org/drawingml/2006/main" noGrp="1"/>
          </p:cNvSpPr>
          <p:nvPr/>
        </p:nvSpPr>
        <p:spPr>
          <a:xfrm xmlns:a="http://schemas.openxmlformats.org/drawingml/2006/main">
            <a:off x="6210300" y="4010025"/>
            <a:ext cx="234315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8" name="">
            <a:extLst xmlns:a="http://schemas.openxmlformats.org/drawingml/2006/main">
              <a:ext uri="{FF2B5EF4-FFF2-40B4-BE49-F238E27FC236}">
                <a16:creationId xmlns:a16="http://schemas.microsoft.com/office/drawing/2014/main" id="{EA522A0E-6E12-474C-B9C6-5B1C11B80A30}"/>
              </a:ext>
            </a:extLst>
          </p:cNvPr>
          <p:cNvSpPr>
            <a:spLocks xmlns:a="http://schemas.openxmlformats.org/drawingml/2006/main" noGrp="1"/>
          </p:cNvSpPr>
          <p:nvPr/>
        </p:nvSpPr>
        <p:spPr>
          <a:xfrm xmlns:a="http://schemas.openxmlformats.org/drawingml/2006/main">
            <a:off x="8943975" y="1962150"/>
            <a:ext cx="609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325" b="1">
                <a:solidFill>
                  <a:srgbClr val="167C80"/>
                </a:solidFill>
                <a:latin typeface="Helvetica Neue"/>
                <a:ea typeface="Helvetica Neue"/>
                <a:cs typeface="Helvetica Neue"/>
              </a:defRPr>
            </a:pPr>
            <a:r>
              <a:rPr sz="2325" b="1">
                <a:solidFill>
                  <a:srgbClr val="167C80"/>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E553F688-CABB-4466-B0FE-B328C8EDF8F2}"/>
              </a:ext>
            </a:extLst>
          </p:cNvPr>
          <p:cNvSpPr>
            <a:spLocks xmlns:a="http://schemas.openxmlformats.org/drawingml/2006/main" noGrp="1"/>
          </p:cNvSpPr>
          <p:nvPr/>
        </p:nvSpPr>
        <p:spPr>
          <a:xfrm xmlns:a="http://schemas.openxmlformats.org/drawingml/2006/main">
            <a:off x="8943975" y="2562225"/>
            <a:ext cx="2333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1">
                <a:solidFill>
                  <a:srgbClr val="132E35"/>
                </a:solidFill>
                <a:latin typeface="Helvetica Neue"/>
                <a:ea typeface="Helvetica Neue"/>
                <a:cs typeface="Helvetica Neue"/>
              </a:defRPr>
            </a:pPr>
            <a:r>
              <a:rPr sz="1650" b="1">
                <a:solidFill>
                  <a:srgbClr val="132E35"/>
                </a:solidFill>
                <a:latin typeface="Helvetica Neue"/>
                <a:ea typeface="Helvetica Neue"/>
                <a:cs typeface="Helvetica Neue"/>
              </a:rPr>
              <a:t>Compare</a:t>
            </a:r>
          </a:p>
        </p:txBody>
      </p:sp>
      <p:sp>
        <p:nvSpPr>
          <p:cNvPr id="20" name="">
            <a:extLst xmlns:a="http://schemas.openxmlformats.org/drawingml/2006/main">
              <a:ext uri="{FF2B5EF4-FFF2-40B4-BE49-F238E27FC236}">
                <a16:creationId xmlns:a16="http://schemas.microsoft.com/office/drawing/2014/main" id="{EC41AA7F-DA63-49A8-A26C-A840C456E36C}"/>
              </a:ext>
            </a:extLst>
          </p:cNvPr>
          <p:cNvSpPr>
            <a:spLocks xmlns:a="http://schemas.openxmlformats.org/drawingml/2006/main" noGrp="1"/>
          </p:cNvSpPr>
          <p:nvPr/>
        </p:nvSpPr>
        <p:spPr>
          <a:xfrm xmlns:a="http://schemas.openxmlformats.org/drawingml/2006/main">
            <a:off x="8943975" y="3028950"/>
            <a:ext cx="2333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0">
                <a:solidFill>
                  <a:srgbClr val="52676B"/>
                </a:solidFill>
                <a:latin typeface="Helvetica Neue"/>
                <a:ea typeface="Helvetica Neue"/>
                <a:cs typeface="Helvetica Neue"/>
              </a:defRPr>
            </a:pPr>
            <a:r>
              <a:rPr sz="1350" b="0">
                <a:solidFill>
                  <a:srgbClr val="52676B"/>
                </a:solidFill>
                <a:latin typeface="Helvetica Neue"/>
                <a:ea typeface="Helvetica Neue"/>
                <a:cs typeface="Helvetica Neue"/>
              </a:rPr>
              <a:t>Review answer, evidence, and budget deltas.</a:t>
            </a:r>
          </a:p>
        </p:txBody>
      </p:sp>
      <p:sp>
        <p:nvSpPr>
          <p:cNvPr id="21" name="">
            <a:extLst xmlns:a="http://schemas.openxmlformats.org/drawingml/2006/main">
              <a:ext uri="{FF2B5EF4-FFF2-40B4-BE49-F238E27FC236}">
                <a16:creationId xmlns:a16="http://schemas.microsoft.com/office/drawing/2014/main" id="{2CE60E35-7CD4-47F0-984B-C3189DBC902F}"/>
              </a:ext>
            </a:extLst>
          </p:cNvPr>
          <p:cNvSpPr>
            <a:spLocks xmlns:a="http://schemas.openxmlformats.org/drawingml/2006/main" noGrp="1"/>
          </p:cNvSpPr>
          <p:nvPr/>
        </p:nvSpPr>
        <p:spPr>
          <a:xfrm xmlns:a="http://schemas.openxmlformats.org/drawingml/2006/main">
            <a:off x="742950" y="4514850"/>
            <a:ext cx="188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C56A3B"/>
                </a:solidFill>
                <a:latin typeface="Helvetica Neue"/>
                <a:ea typeface="Helvetica Neue"/>
                <a:cs typeface="Helvetica Neue"/>
              </a:defRPr>
            </a:pPr>
            <a:r>
              <a:rPr sz="1275" b="1">
                <a:solidFill>
                  <a:srgbClr val="C56A3B"/>
                </a:solidFill>
                <a:latin typeface="Helvetica Neue"/>
                <a:ea typeface="Helvetica Neue"/>
                <a:cs typeface="Helvetica Neue"/>
              </a:rPr>
              <a:t>Inspect failures</a:t>
            </a:r>
          </a:p>
        </p:txBody>
      </p:sp>
      <p:sp>
        <p:nvSpPr>
          <p:cNvPr id="22" name="">
            <a:extLst xmlns:a="http://schemas.openxmlformats.org/drawingml/2006/main">
              <a:ext uri="{FF2B5EF4-FFF2-40B4-BE49-F238E27FC236}">
                <a16:creationId xmlns:a16="http://schemas.microsoft.com/office/drawing/2014/main" id="{5993D9C0-1426-4526-A585-4298B43784D0}"/>
              </a:ext>
            </a:extLst>
          </p:cNvPr>
          <p:cNvSpPr>
            <a:spLocks xmlns:a="http://schemas.openxmlformats.org/drawingml/2006/main" noGrp="1"/>
          </p:cNvSpPr>
          <p:nvPr/>
        </p:nvSpPr>
        <p:spPr>
          <a:xfrm xmlns:a="http://schemas.openxmlformats.org/drawingml/2006/main">
            <a:off x="742950" y="4857750"/>
            <a:ext cx="895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0">
                <a:solidFill>
                  <a:srgbClr val="132E35"/>
                </a:solidFill>
                <a:latin typeface="Helvetica Neue"/>
                <a:ea typeface="Helvetica Neue"/>
                <a:cs typeface="Helvetica Neue"/>
              </a:defRPr>
            </a:pPr>
            <a:r>
              <a:rPr sz="1800" b="0">
                <a:solidFill>
                  <a:srgbClr val="132E35"/>
                </a:solidFill>
                <a:latin typeface="Helvetica Neue"/>
                <a:ea typeface="Helvetica Neue"/>
                <a:cs typeface="Helvetica Neue"/>
              </a:rPr>
              <a:t>Wrong fact? Missing date or unit? Weak source? Over budget?</a:t>
            </a:r>
          </a:p>
        </p:txBody>
      </p:sp>
      <p:sp>
        <p:nvSpPr>
          <p:cNvPr id="23" name="">
            <a:extLst xmlns:a="http://schemas.openxmlformats.org/drawingml/2006/main">
              <a:ext uri="{FF2B5EF4-FFF2-40B4-BE49-F238E27FC236}">
                <a16:creationId xmlns:a16="http://schemas.microsoft.com/office/drawing/2014/main" id="{7B4E8C24-4FBA-4EA2-AB04-24BF649ECE91}"/>
              </a:ext>
            </a:extLst>
          </p:cNvPr>
          <p:cNvSpPr>
            <a:spLocks xmlns:a="http://schemas.openxmlformats.org/drawingml/2006/main" noGrp="1"/>
          </p:cNvSpPr>
          <p:nvPr/>
        </p:nvSpPr>
        <p:spPr>
          <a:xfrm xmlns:a="http://schemas.openxmlformats.org/drawingml/2006/main">
            <a:off x="742950" y="531495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00" b="0">
                <a:solidFill>
                  <a:srgbClr val="52676B"/>
                </a:solidFill>
                <a:latin typeface="Helvetica Neue"/>
                <a:ea typeface="Helvetica Neue"/>
                <a:cs typeface="Helvetica Neue"/>
              </a:defRPr>
            </a:pPr>
            <a:r>
              <a:rPr sz="1500" b="0">
                <a:solidFill>
                  <a:srgbClr val="52676B"/>
                </a:solidFill>
                <a:latin typeface="Helvetica Neue"/>
                <a:ea typeface="Helvetica Neue"/>
                <a:cs typeface="Helvetica Neue"/>
              </a:rPr>
              <a:t>Use the failure to change context generation, then rerun the same set.</a:t>
            </a:r>
          </a:p>
        </p:txBody>
      </p:sp>
    </p:spTree>
    <p:extLst>
      <p:ext uri="{BB962C8B-B14F-4D97-AF65-F5344CB8AC3E}">
        <p14:creationId xmlns:p14="http://schemas.microsoft.com/office/powerpoint/2010/main" val="1945611675"/>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F9B9B94-86C6-495B-9346-71C2961EEC0A}"/>
              </a:ext>
            </a:extLst>
          </p:cNvPr>
          <p:cNvSpPr>
            <a:spLocks xmlns:a="http://schemas.openxmlformats.org/drawingml/2006/main" noGrp="1"/>
          </p:cNvSpPr>
          <p:nvPr/>
        </p:nvSpPr>
        <p:spPr>
          <a:xfrm xmlns:a="http://schemas.openxmlformats.org/drawingml/2006/main">
            <a:off x="647700" y="400050"/>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3150" b="1">
                <a:solidFill>
                  <a:srgbClr val="132E35"/>
                </a:solidFill>
                <a:latin typeface="Helvetica Neue"/>
                <a:ea typeface="Helvetica Neue"/>
                <a:cs typeface="Helvetica Neue"/>
              </a:defRPr>
            </a:pPr>
            <a:r>
              <a:rPr sz="3150" b="1">
                <a:solidFill>
                  <a:srgbClr val="132E35"/>
                </a:solidFill>
                <a:latin typeface="Helvetica Neue"/>
                <a:ea typeface="Helvetica Neue"/>
                <a:cs typeface="Helvetica Neue"/>
              </a:rPr>
              <a:t>Prototype status and next validation</a:t>
            </a:r>
          </a:p>
        </p:txBody>
      </p:sp>
      <p:sp>
        <p:nvSpPr>
          <p:cNvPr id="2" name="">
            <a:extLst xmlns:a="http://schemas.openxmlformats.org/drawingml/2006/main">
              <a:ext uri="{FF2B5EF4-FFF2-40B4-BE49-F238E27FC236}">
                <a16:creationId xmlns:a16="http://schemas.microsoft.com/office/drawing/2014/main" id="{C678AE0F-4C76-4847-A195-314FBF490B77}"/>
              </a:ext>
            </a:extLst>
          </p:cNvPr>
          <p:cNvSpPr>
            <a:spLocks xmlns:a="http://schemas.openxmlformats.org/drawingml/2006/main" noGrp="1"/>
          </p:cNvSpPr>
          <p:nvPr/>
        </p:nvSpPr>
        <p:spPr>
          <a:xfrm xmlns:a="http://schemas.openxmlformats.org/drawingml/2006/main">
            <a:off x="666750" y="1000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575" b="0">
                <a:solidFill>
                  <a:srgbClr val="52676B"/>
                </a:solidFill>
                <a:latin typeface="Helvetica Neue"/>
                <a:ea typeface="Helvetica Neue"/>
                <a:cs typeface="Helvetica Neue"/>
              </a:defRPr>
            </a:pPr>
            <a:r>
              <a:rPr sz="1575" b="0">
                <a:solidFill>
                  <a:srgbClr val="52676B"/>
                </a:solidFill>
                <a:latin typeface="Helvetica Neue"/>
                <a:ea typeface="Helvetica Neue"/>
                <a:cs typeface="Helvetica Neue"/>
              </a:rPr>
              <a:t>The first pipeline components are in place; the chat loop still needs to be wired</a:t>
            </a:r>
          </a:p>
        </p:txBody>
      </p:sp>
      <p:sp>
        <p:nvSpPr>
          <p:cNvPr id="3" name="">
            <a:extLst xmlns:a="http://schemas.openxmlformats.org/drawingml/2006/main">
              <a:ext uri="{FF2B5EF4-FFF2-40B4-BE49-F238E27FC236}">
                <a16:creationId xmlns:a16="http://schemas.microsoft.com/office/drawing/2014/main" id="{A5591665-EE1E-4E45-B667-99C62D7C4319}"/>
              </a:ext>
            </a:extLst>
          </p:cNvPr>
          <p:cNvSpPr>
            <a:spLocks xmlns:a="http://schemas.openxmlformats.org/drawingml/2006/main" noGrp="1"/>
          </p:cNvSpPr>
          <p:nvPr/>
        </p:nvSpPr>
        <p:spPr>
          <a:xfrm xmlns:a="http://schemas.openxmlformats.org/drawingml/2006/main">
            <a:off x="647700" y="6429375"/>
            <a:ext cx="1089660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4" name="">
            <a:extLst xmlns:a="http://schemas.openxmlformats.org/drawingml/2006/main">
              <a:ext uri="{FF2B5EF4-FFF2-40B4-BE49-F238E27FC236}">
                <a16:creationId xmlns:a16="http://schemas.microsoft.com/office/drawing/2014/main" id="{4B3D4A01-F9A6-428C-89FA-2BE566AC847C}"/>
              </a:ext>
            </a:extLst>
          </p:cNvPr>
          <p:cNvSpPr>
            <a:spLocks xmlns:a="http://schemas.openxmlformats.org/drawingml/2006/main" noGrp="1"/>
          </p:cNvSpPr>
          <p:nvPr/>
        </p:nvSpPr>
        <p:spPr>
          <a:xfrm xmlns:a="http://schemas.openxmlformats.org/drawingml/2006/main">
            <a:off x="647700" y="6534150"/>
            <a:ext cx="723900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900" b="1">
                <a:solidFill>
                  <a:srgbClr val="52676B"/>
                </a:solidFill>
                <a:latin typeface="Helvetica Neue"/>
                <a:ea typeface="Helvetica Neue"/>
                <a:cs typeface="Helvetica Neue"/>
              </a:defRPr>
            </a:pPr>
            <a:r>
              <a:rPr sz="900" b="1">
                <a:solidFill>
                  <a:srgbClr val="52676B"/>
                </a:solidFill>
                <a:latin typeface="Helvetica Neue"/>
                <a:ea typeface="Helvetica Neue"/>
                <a:cs typeface="Helvetica Neue"/>
              </a:rPr>
              <a:t>SYNTHETIC HIE  /  CONTEXT + EVALUATION</a:t>
            </a:r>
          </a:p>
        </p:txBody>
      </p:sp>
      <p:sp>
        <p:nvSpPr>
          <p:cNvPr id="5" name="">
            <a:extLst xmlns:a="http://schemas.openxmlformats.org/drawingml/2006/main">
              <a:ext uri="{FF2B5EF4-FFF2-40B4-BE49-F238E27FC236}">
                <a16:creationId xmlns:a16="http://schemas.microsoft.com/office/drawing/2014/main" id="{82D2D26E-497E-4143-83C5-A6B29BE94028}"/>
              </a:ext>
            </a:extLst>
          </p:cNvPr>
          <p:cNvSpPr>
            <a:spLocks xmlns:a="http://schemas.openxmlformats.org/drawingml/2006/main" noGrp="1"/>
          </p:cNvSpPr>
          <p:nvPr/>
        </p:nvSpPr>
        <p:spPr>
          <a:xfrm xmlns:a="http://schemas.openxmlformats.org/drawingml/2006/main">
            <a:off x="11049000" y="6515100"/>
            <a:ext cx="495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8000"/>
              </a:lnSpc>
              <a:buNone/>
              <a:defRPr sz="975" b="0">
                <a:solidFill>
                  <a:srgbClr val="52676B"/>
                </a:solidFill>
                <a:latin typeface="Helvetica Neue"/>
                <a:ea typeface="Helvetica Neue"/>
                <a:cs typeface="Helvetica Neue"/>
              </a:defRPr>
            </a:pPr>
            <a:r>
              <a:rPr sz="975" b="0">
                <a:solidFill>
                  <a:srgbClr val="52676B"/>
                </a:solidFill>
                <a:latin typeface="Helvetica Neue"/>
                <a:ea typeface="Helvetica Neue"/>
                <a:cs typeface="Helvetica Neue"/>
              </a:rPr>
              <a:t>08</a:t>
            </a:r>
          </a:p>
        </p:txBody>
      </p:sp>
      <p:sp>
        <p:nvSpPr>
          <p:cNvPr id="6" name="">
            <a:extLst xmlns:a="http://schemas.openxmlformats.org/drawingml/2006/main">
              <a:ext uri="{FF2B5EF4-FFF2-40B4-BE49-F238E27FC236}">
                <a16:creationId xmlns:a16="http://schemas.microsoft.com/office/drawing/2014/main" id="{E10BA5FF-4AAF-4840-A97B-A3D3EC1F10A8}"/>
              </a:ext>
            </a:extLst>
          </p:cNvPr>
          <p:cNvSpPr>
            <a:spLocks xmlns:a="http://schemas.openxmlformats.org/drawingml/2006/main" noGrp="1"/>
          </p:cNvSpPr>
          <p:nvPr/>
        </p:nvSpPr>
        <p:spPr>
          <a:xfrm xmlns:a="http://schemas.openxmlformats.org/drawingml/2006/main">
            <a:off x="762000" y="1762125"/>
            <a:ext cx="228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167C80"/>
                </a:solidFill>
                <a:latin typeface="Helvetica Neue"/>
                <a:ea typeface="Helvetica Neue"/>
                <a:cs typeface="Helvetica Neue"/>
              </a:defRPr>
            </a:pPr>
            <a:r>
              <a:rPr sz="1275" b="1">
                <a:solidFill>
                  <a:srgbClr val="167C80"/>
                </a:solidFill>
                <a:latin typeface="Helvetica Neue"/>
                <a:ea typeface="Helvetica Neue"/>
                <a:cs typeface="Helvetica Neue"/>
              </a:rPr>
              <a:t>IN PLACE</a:t>
            </a:r>
          </a:p>
        </p:txBody>
      </p:sp>
      <p:sp>
        <p:nvSpPr>
          <p:cNvPr id="7" name="">
            <a:extLst xmlns:a="http://schemas.openxmlformats.org/drawingml/2006/main">
              <a:ext uri="{FF2B5EF4-FFF2-40B4-BE49-F238E27FC236}">
                <a16:creationId xmlns:a16="http://schemas.microsoft.com/office/drawing/2014/main" id="{B2F46FD1-78D0-492D-933A-AEAC50ABECCB}"/>
              </a:ext>
            </a:extLst>
          </p:cNvPr>
          <p:cNvSpPr>
            <a:spLocks xmlns:a="http://schemas.openxmlformats.org/drawingml/2006/main" noGrp="1"/>
          </p:cNvSpPr>
          <p:nvPr/>
        </p:nvSpPr>
        <p:spPr>
          <a:xfrm xmlns:a="http://schemas.openxmlformats.org/drawingml/2006/main">
            <a:off x="762000" y="2133600"/>
            <a:ext cx="4476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5000"/>
              </a:lnSpc>
              <a:buNone/>
              <a:defRPr sz="1725" b="0">
                <a:solidFill>
                  <a:srgbClr val="132E35"/>
                </a:solidFill>
                <a:latin typeface="Helvetica Neue"/>
                <a:ea typeface="Helvetica Neue"/>
                <a:cs typeface="Helvetica Neue"/>
              </a:defRPr>
            </a:pPr>
            <a:r>
              <a:rPr sz="1725" b="0">
                <a:solidFill>
                  <a:srgbClr val="132E35"/>
                </a:solidFill>
                <a:latin typeface="Helvetica Neue"/>
                <a:ea typeface="Helvetica Neue"/>
                <a:cs typeface="Helvetica Neue"/>
              </a:rPr>
              <a:t>FHIR loading and fact normalization</a:t>
            </a:r>
          </a:p>
          <a:p xmlns:a="http://schemas.openxmlformats.org/drawingml/2006/main">
            <a:pPr algn="l">
              <a:lnSpc>
                <a:spcPct val="125000"/>
              </a:lnSpc>
              <a:buNone/>
              <a:defRPr sz="1725" b="0">
                <a:solidFill>
                  <a:srgbClr val="132E35"/>
                </a:solidFill>
                <a:latin typeface="Helvetica Neue"/>
                <a:ea typeface="Helvetica Neue"/>
                <a:cs typeface="Helvetica Neue"/>
              </a:defRPr>
            </a:pPr>
            <a:r>
              <a:rPr sz="1725" b="0">
                <a:solidFill>
                  <a:srgbClr val="132E35"/>
                </a:solidFill>
                <a:latin typeface="Helvetica Neue"/>
                <a:ea typeface="Helvetica Neue"/>
                <a:cs typeface="Helvetica Neue"/>
              </a:rPr>
              <a:t>Deterministic context selection</a:t>
            </a:r>
          </a:p>
          <a:p xmlns:a="http://schemas.openxmlformats.org/drawingml/2006/main">
            <a:pPr algn="l">
              <a:lnSpc>
                <a:spcPct val="125000"/>
              </a:lnSpc>
              <a:buNone/>
              <a:defRPr sz="1725" b="0">
                <a:solidFill>
                  <a:srgbClr val="132E35"/>
                </a:solidFill>
                <a:latin typeface="Helvetica Neue"/>
                <a:ea typeface="Helvetica Neue"/>
                <a:cs typeface="Helvetica Neue"/>
              </a:defRPr>
            </a:pPr>
            <a:r>
              <a:rPr sz="1725" b="0">
                <a:solidFill>
                  <a:srgbClr val="132E35"/>
                </a:solidFill>
                <a:latin typeface="Helvetica Neue"/>
                <a:ea typeface="Helvetica Neue"/>
                <a:cs typeface="Helvetica Neue"/>
              </a:rPr>
              <a:t>Patient-scoped lexical retrieval</a:t>
            </a:r>
          </a:p>
          <a:p xmlns:a="http://schemas.openxmlformats.org/drawingml/2006/main">
            <a:pPr algn="l">
              <a:lnSpc>
                <a:spcPct val="125000"/>
              </a:lnSpc>
              <a:buNone/>
              <a:defRPr sz="1725" b="0">
                <a:solidFill>
                  <a:srgbClr val="132E35"/>
                </a:solidFill>
                <a:latin typeface="Helvetica Neue"/>
                <a:ea typeface="Helvetica Neue"/>
                <a:cs typeface="Helvetica Neue"/>
              </a:defRPr>
            </a:pPr>
            <a:r>
              <a:rPr sz="1725" b="0">
                <a:solidFill>
                  <a:srgbClr val="132E35"/>
                </a:solidFill>
                <a:latin typeface="Helvetica Neue"/>
                <a:ea typeface="Helvetica Neue"/>
                <a:cs typeface="Helvetica Neue"/>
              </a:rPr>
              <a:t>Known-answer eval scaffolding</a:t>
            </a:r>
          </a:p>
        </p:txBody>
      </p:sp>
      <p:sp>
        <p:nvSpPr>
          <p:cNvPr id="8" name="">
            <a:extLst xmlns:a="http://schemas.openxmlformats.org/drawingml/2006/main">
              <a:ext uri="{FF2B5EF4-FFF2-40B4-BE49-F238E27FC236}">
                <a16:creationId xmlns:a16="http://schemas.microsoft.com/office/drawing/2014/main" id="{382C0ECA-7B0D-4510-8EB2-D47C28923A46}"/>
              </a:ext>
            </a:extLst>
          </p:cNvPr>
          <p:cNvSpPr>
            <a:spLocks xmlns:a="http://schemas.openxmlformats.org/drawingml/2006/main" noGrp="1"/>
          </p:cNvSpPr>
          <p:nvPr/>
        </p:nvSpPr>
        <p:spPr>
          <a:xfrm xmlns:a="http://schemas.openxmlformats.org/drawingml/2006/main">
            <a:off x="5953125" y="1733550"/>
            <a:ext cx="0" cy="2314575"/>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9" name="">
            <a:extLst xmlns:a="http://schemas.openxmlformats.org/drawingml/2006/main">
              <a:ext uri="{FF2B5EF4-FFF2-40B4-BE49-F238E27FC236}">
                <a16:creationId xmlns:a16="http://schemas.microsoft.com/office/drawing/2014/main" id="{78A28878-28B8-4A84-AFD0-AB626916661B}"/>
              </a:ext>
            </a:extLst>
          </p:cNvPr>
          <p:cNvSpPr>
            <a:spLocks xmlns:a="http://schemas.openxmlformats.org/drawingml/2006/main" noGrp="1"/>
          </p:cNvSpPr>
          <p:nvPr/>
        </p:nvSpPr>
        <p:spPr>
          <a:xfrm xmlns:a="http://schemas.openxmlformats.org/drawingml/2006/main">
            <a:off x="6572250" y="1762125"/>
            <a:ext cx="2286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C56A3B"/>
                </a:solidFill>
                <a:latin typeface="Helvetica Neue"/>
                <a:ea typeface="Helvetica Neue"/>
                <a:cs typeface="Helvetica Neue"/>
              </a:defRPr>
            </a:pPr>
            <a:r>
              <a:rPr sz="1275" b="1">
                <a:solidFill>
                  <a:srgbClr val="C56A3B"/>
                </a:solidFill>
                <a:latin typeface="Helvetica Neue"/>
                <a:ea typeface="Helvetica Neue"/>
                <a:cs typeface="Helvetica Neue"/>
              </a:rPr>
              <a:t>NEXT</a:t>
            </a:r>
          </a:p>
        </p:txBody>
      </p:sp>
      <p:sp>
        <p:nvSpPr>
          <p:cNvPr id="10" name="">
            <a:extLst xmlns:a="http://schemas.openxmlformats.org/drawingml/2006/main">
              <a:ext uri="{FF2B5EF4-FFF2-40B4-BE49-F238E27FC236}">
                <a16:creationId xmlns:a16="http://schemas.microsoft.com/office/drawing/2014/main" id="{558EF639-7121-4762-950C-1DE11B6D0F8A}"/>
              </a:ext>
            </a:extLst>
          </p:cNvPr>
          <p:cNvSpPr>
            <a:spLocks xmlns:a="http://schemas.openxmlformats.org/drawingml/2006/main" noGrp="1"/>
          </p:cNvSpPr>
          <p:nvPr/>
        </p:nvSpPr>
        <p:spPr>
          <a:xfrm xmlns:a="http://schemas.openxmlformats.org/drawingml/2006/main">
            <a:off x="6572250" y="2133600"/>
            <a:ext cx="4762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650" b="0">
                <a:solidFill>
                  <a:srgbClr val="132E35"/>
                </a:solidFill>
                <a:latin typeface="Helvetica Neue"/>
                <a:ea typeface="Helvetica Neue"/>
                <a:cs typeface="Helvetica Neue"/>
              </a:defRPr>
            </a:pPr>
            <a:r>
              <a:rPr sz="1650" b="0">
                <a:solidFill>
                  <a:srgbClr val="132E35"/>
                </a:solidFill>
                <a:latin typeface="Helvetica Neue"/>
                <a:ea typeface="Helvetica Neue"/>
                <a:cs typeface="Helvetica Neue"/>
              </a:rPr>
              <a:t>Connect a chat model to the fixed question set</a:t>
            </a:r>
          </a:p>
          <a:p xmlns:a="http://schemas.openxmlformats.org/drawingml/2006/main">
            <a:pPr algn="l">
              <a:lnSpc>
                <a:spcPct val="122000"/>
              </a:lnSpc>
              <a:buNone/>
              <a:defRPr sz="1650" b="0">
                <a:solidFill>
                  <a:srgbClr val="132E35"/>
                </a:solidFill>
                <a:latin typeface="Helvetica Neue"/>
                <a:ea typeface="Helvetica Neue"/>
                <a:cs typeface="Helvetica Neue"/>
              </a:defRPr>
            </a:pPr>
            <a:r>
              <a:rPr sz="1650" b="0">
                <a:solidFill>
                  <a:srgbClr val="132E35"/>
                </a:solidFill>
                <a:latin typeface="Helvetica Neue"/>
                <a:ea typeface="Helvetica Neue"/>
                <a:cs typeface="Helvetica Neue"/>
              </a:rPr>
              <a:t>Use Anthropic's token-count endpoint</a:t>
            </a:r>
          </a:p>
          <a:p xmlns:a="http://schemas.openxmlformats.org/drawingml/2006/main">
            <a:pPr algn="l">
              <a:lnSpc>
                <a:spcPct val="122000"/>
              </a:lnSpc>
              <a:buNone/>
              <a:defRPr sz="1650" b="0">
                <a:solidFill>
                  <a:srgbClr val="132E35"/>
                </a:solidFill>
                <a:latin typeface="Helvetica Neue"/>
                <a:ea typeface="Helvetica Neue"/>
                <a:cs typeface="Helvetica Neue"/>
              </a:defRPr>
            </a:pPr>
            <a:r>
              <a:rPr sz="1650" b="0">
                <a:solidFill>
                  <a:srgbClr val="132E35"/>
                </a:solidFill>
                <a:latin typeface="Helvetica Neue"/>
                <a:ea typeface="Helvetica Neue"/>
                <a:cs typeface="Helvetica Neue"/>
              </a:rPr>
              <a:t>Run baseline on the sample and largest bundles</a:t>
            </a:r>
          </a:p>
          <a:p xmlns:a="http://schemas.openxmlformats.org/drawingml/2006/main">
            <a:pPr algn="l">
              <a:lnSpc>
                <a:spcPct val="122000"/>
              </a:lnSpc>
              <a:buNone/>
              <a:defRPr sz="1650" b="0">
                <a:solidFill>
                  <a:srgbClr val="132E35"/>
                </a:solidFill>
                <a:latin typeface="Helvetica Neue"/>
                <a:ea typeface="Helvetica Neue"/>
                <a:cs typeface="Helvetica Neue"/>
              </a:defRPr>
            </a:pPr>
            <a:r>
              <a:rPr sz="1650" b="0">
                <a:solidFill>
                  <a:srgbClr val="132E35"/>
                </a:solidFill>
                <a:latin typeface="Helvetica Neue"/>
                <a:ea typeface="Helvetica Neue"/>
                <a:cs typeface="Helvetica Neue"/>
              </a:rPr>
              <a:t>Review output and evidence before tuning</a:t>
            </a:r>
          </a:p>
        </p:txBody>
      </p:sp>
      <p:sp>
        <p:nvSpPr>
          <p:cNvPr id="11" name="">
            <a:extLst xmlns:a="http://schemas.openxmlformats.org/drawingml/2006/main">
              <a:ext uri="{FF2B5EF4-FFF2-40B4-BE49-F238E27FC236}">
                <a16:creationId xmlns:a16="http://schemas.microsoft.com/office/drawing/2014/main" id="{FAC8AF7C-D0B0-40F0-BDC7-9F73DF57AC01}"/>
              </a:ext>
            </a:extLst>
          </p:cNvPr>
          <p:cNvSpPr>
            <a:spLocks xmlns:a="http://schemas.openxmlformats.org/drawingml/2006/main" noGrp="1"/>
          </p:cNvSpPr>
          <p:nvPr/>
        </p:nvSpPr>
        <p:spPr>
          <a:xfrm xmlns:a="http://schemas.openxmlformats.org/drawingml/2006/main">
            <a:off x="762000" y="4324350"/>
            <a:ext cx="10572750" cy="0"/>
          </a:xfrm>
          <a:prstGeom xmlns:a="http://schemas.openxmlformats.org/drawingml/2006/main" prst="line">
            <a:avLst/>
          </a:prstGeom>
          <a:noFill xmlns:a="http://schemas.openxmlformats.org/drawingml/2006/main"/>
          <a:ln xmlns:a="http://schemas.openxmlformats.org/drawingml/2006/main" w="9525">
            <a:solidFill>
              <a:srgbClr val="C8D5D2"/>
            </a:solidFill>
            <a:prstDash val="solid"/>
          </a:ln>
        </p:spPr>
      </p:sp>
      <p:sp>
        <p:nvSpPr>
          <p:cNvPr id="12" name="">
            <a:extLst xmlns:a="http://schemas.openxmlformats.org/drawingml/2006/main">
              <a:ext uri="{FF2B5EF4-FFF2-40B4-BE49-F238E27FC236}">
                <a16:creationId xmlns:a16="http://schemas.microsoft.com/office/drawing/2014/main" id="{2E0C9BD1-6A9E-4562-8042-BB24CFF366E0}"/>
              </a:ext>
            </a:extLst>
          </p:cNvPr>
          <p:cNvSpPr>
            <a:spLocks xmlns:a="http://schemas.openxmlformats.org/drawingml/2006/main" noGrp="1"/>
          </p:cNvSpPr>
          <p:nvPr/>
        </p:nvSpPr>
        <p:spPr>
          <a:xfrm xmlns:a="http://schemas.openxmlformats.org/drawingml/2006/main">
            <a:off x="762000" y="46291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75" b="1">
                <a:solidFill>
                  <a:srgbClr val="167C80"/>
                </a:solidFill>
                <a:latin typeface="Helvetica Neue"/>
                <a:ea typeface="Helvetica Neue"/>
                <a:cs typeface="Helvetica Neue"/>
              </a:defRPr>
            </a:pPr>
            <a:r>
              <a:rPr sz="1275" b="1">
                <a:solidFill>
                  <a:srgbClr val="167C80"/>
                </a:solidFill>
                <a:latin typeface="Helvetica Neue"/>
                <a:ea typeface="Helvetica Neue"/>
                <a:cs typeface="Helvetica Neue"/>
              </a:rPr>
              <a:t>Current claim</a:t>
            </a:r>
          </a:p>
        </p:txBody>
      </p:sp>
      <p:sp>
        <p:nvSpPr>
          <p:cNvPr id="13" name="">
            <a:extLst xmlns:a="http://schemas.openxmlformats.org/drawingml/2006/main">
              <a:ext uri="{FF2B5EF4-FFF2-40B4-BE49-F238E27FC236}">
                <a16:creationId xmlns:a16="http://schemas.microsoft.com/office/drawing/2014/main" id="{D2751539-4A66-416D-BF6F-E102E4317623}"/>
              </a:ext>
            </a:extLst>
          </p:cNvPr>
          <p:cNvSpPr>
            <a:spLocks xmlns:a="http://schemas.openxmlformats.org/drawingml/2006/main" noGrp="1"/>
          </p:cNvSpPr>
          <p:nvPr/>
        </p:nvSpPr>
        <p:spPr>
          <a:xfrm xmlns:a="http://schemas.openxmlformats.org/drawingml/2006/main">
            <a:off x="762000" y="4981575"/>
            <a:ext cx="1028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650" b="0">
                <a:solidFill>
                  <a:srgbClr val="132E35"/>
                </a:solidFill>
                <a:latin typeface="Helvetica Neue"/>
                <a:ea typeface="Helvetica Neue"/>
                <a:cs typeface="Helvetica Neue"/>
              </a:defRPr>
            </a:pPr>
            <a:r>
              <a:rPr sz="1650" b="0">
                <a:solidFill>
                  <a:srgbClr val="132E35"/>
                </a:solidFill>
                <a:latin typeface="Helvetica Neue"/>
                <a:ea typeface="Helvetica Neue"/>
                <a:cs typeface="Helvetica Neue"/>
              </a:rPr>
              <a:t>We have a source-grounded prototype and an evaluation shape. We have not yet demonstrated answer quality or authoritative token-budget compliance.</a:t>
            </a:r>
          </a:p>
        </p:txBody>
      </p:sp>
    </p:spTree>
    <p:extLst>
      <p:ext uri="{BB962C8B-B14F-4D97-AF65-F5344CB8AC3E}">
        <p14:creationId xmlns:p14="http://schemas.microsoft.com/office/powerpoint/2010/main" val="2440321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2026-09-26T06:39:02.6030000Z</dcterms:created>
  <dcterms:modified xsi:type="dcterms:W3CDTF">2026-09-26T06:39:02.6030000Z</dcterms:modified>
</coreProperties>
</file>